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8" r:id="rId6"/>
    <p:sldId id="270" r:id="rId7"/>
    <p:sldId id="271" r:id="rId8"/>
    <p:sldId id="267" r:id="rId9"/>
    <p:sldId id="257" r:id="rId10"/>
    <p:sldId id="259" r:id="rId11"/>
    <p:sldId id="397" r:id="rId12"/>
    <p:sldId id="409" r:id="rId13"/>
    <p:sldId id="407" r:id="rId14"/>
    <p:sldId id="258" r:id="rId15"/>
    <p:sldId id="260" r:id="rId16"/>
    <p:sldId id="261" r:id="rId17"/>
    <p:sldId id="262" r:id="rId18"/>
    <p:sldId id="272" r:id="rId19"/>
    <p:sldId id="265" r:id="rId20"/>
  </p:sldIdLst>
  <p:sldSz cx="9144000" cy="5143500" type="screen16x9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52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325F54"/>
    <a:srgbClr val="FF0000"/>
    <a:srgbClr val="41CFE7"/>
    <a:srgbClr val="DE0000"/>
    <a:srgbClr val="92D050"/>
    <a:srgbClr val="BFBFBF"/>
    <a:srgbClr val="FFFF00"/>
    <a:srgbClr val="0070C0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25" autoAdjust="0"/>
    <p:restoredTop sz="94539" autoAdjust="0"/>
  </p:normalViewPr>
  <p:slideViewPr>
    <p:cSldViewPr snapToGrid="0">
      <p:cViewPr>
        <p:scale>
          <a:sx n="150" d="100"/>
          <a:sy n="150" d="100"/>
        </p:scale>
        <p:origin x="840" y="108"/>
      </p:cViewPr>
      <p:guideLst>
        <p:guide orient="horz" pos="1620"/>
        <p:guide pos="28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2850" y="-96"/>
      </p:cViewPr>
      <p:guideLst>
        <p:guide orient="horz" pos="4652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D56EAE8-38CB-4EE5-8A34-F5F49B68F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7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74638" y="1108075"/>
            <a:ext cx="9845676" cy="5538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854" y="7016308"/>
            <a:ext cx="7436693" cy="6645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BED2394B-E06C-4DC9-BCC2-551C3DED9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2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253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146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D2394B-E06C-4DC9-BCC2-551C3DED9AA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49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3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667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402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7"/>
          </a:xfrm>
        </p:spPr>
        <p:txBody>
          <a:bodyPr anchor="t"/>
          <a:lstStyle>
            <a:lvl1pPr algn="l">
              <a:defRPr sz="33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700"/>
            </a:lvl1pPr>
            <a:lvl2pPr marL="380895" indent="0">
              <a:buNone/>
              <a:defRPr sz="1500"/>
            </a:lvl2pPr>
            <a:lvl3pPr marL="761790" indent="0">
              <a:buNone/>
              <a:defRPr sz="1300"/>
            </a:lvl3pPr>
            <a:lvl4pPr marL="1142683" indent="0">
              <a:buNone/>
              <a:defRPr sz="1200"/>
            </a:lvl4pPr>
            <a:lvl5pPr marL="1523573" indent="0">
              <a:buNone/>
              <a:defRPr sz="1200"/>
            </a:lvl5pPr>
            <a:lvl6pPr marL="1904467" indent="0">
              <a:buNone/>
              <a:defRPr sz="1200"/>
            </a:lvl6pPr>
            <a:lvl7pPr marL="2285362" indent="0">
              <a:buNone/>
              <a:defRPr sz="1200"/>
            </a:lvl7pPr>
            <a:lvl8pPr marL="2666253" indent="0">
              <a:buNone/>
              <a:defRPr sz="1200"/>
            </a:lvl8pPr>
            <a:lvl9pPr marL="3047146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38925" y="4537472"/>
            <a:ext cx="2133600" cy="154782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118DC-F0C3-4C61-9EEA-2C495CD0458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30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40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30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10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0B41-3034-4777-B6DE-71856D98569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2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77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3"/>
          </a:xfrm>
        </p:spPr>
        <p:txBody>
          <a:bodyPr anchor="b"/>
          <a:lstStyle>
            <a:lvl1pPr algn="l">
              <a:defRPr sz="23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2700"/>
            </a:lvl1pPr>
            <a:lvl2pPr marL="380895" indent="0">
              <a:buNone/>
              <a:defRPr sz="2300"/>
            </a:lvl2pPr>
            <a:lvl3pPr marL="761790" indent="0">
              <a:buNone/>
              <a:defRPr sz="2000"/>
            </a:lvl3pPr>
            <a:lvl4pPr marL="1142683" indent="0">
              <a:buNone/>
              <a:defRPr sz="1700"/>
            </a:lvl4pPr>
            <a:lvl5pPr marL="1523573" indent="0">
              <a:buNone/>
              <a:defRPr sz="1700"/>
            </a:lvl5pPr>
            <a:lvl6pPr marL="1904467" indent="0">
              <a:buNone/>
              <a:defRPr sz="1700"/>
            </a:lvl6pPr>
            <a:lvl7pPr marL="2285362" indent="0">
              <a:buNone/>
              <a:defRPr sz="1700"/>
            </a:lvl7pPr>
            <a:lvl8pPr marL="2666253" indent="0">
              <a:buNone/>
              <a:defRPr sz="1700"/>
            </a:lvl8pPr>
            <a:lvl9pPr marL="3047146" indent="0">
              <a:buNone/>
              <a:defRPr sz="17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Aft>
                <a:spcPct val="0"/>
              </a:spcAft>
              <a:buNone/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5F34B-1C25-4090-A4A7-9CEE84F430B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9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FE2BCE-81FD-49AD-8F3F-8C803C0A891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57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3" y="107157"/>
            <a:ext cx="2141537" cy="430172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07157"/>
            <a:ext cx="6275388" cy="43017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3E699-3BC5-4E82-A48B-54CC42B0E66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0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2953942"/>
            <a:ext cx="4038600" cy="1640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14675" y="4529138"/>
            <a:ext cx="2895600" cy="154781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57A581-C22D-47ED-AD37-017325476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3" y="4743450"/>
            <a:ext cx="8804275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88" rIns="76179" bIns="38088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910" y="4743450"/>
            <a:ext cx="874014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79" tIns="38088" rIns="76179" bIns="38088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63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42100" y="453747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>
              <a:defRPr/>
            </a:pPr>
            <a:fld id="{B6C70261-DCF8-4A97-9502-E8EEF2364CD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0" y="4706938"/>
            <a:ext cx="8826500" cy="388620"/>
            <a:chOff x="0" y="6321425"/>
            <a:chExt cx="10591800" cy="466344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6321425"/>
              <a:ext cx="10591800" cy="4663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AAAA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7" descr="ti_logo_powerpoint_1_line.png"/>
            <p:cNvPicPr>
              <a:picLocks noChangeAspect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3138" y="6440488"/>
              <a:ext cx="1874837" cy="231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31"/>
          <p:cNvSpPr txBox="1">
            <a:spLocks noChangeArrowheads="1"/>
          </p:cNvSpPr>
          <p:nvPr/>
        </p:nvSpPr>
        <p:spPr bwMode="auto">
          <a:xfrm>
            <a:off x="314325" y="4471536"/>
            <a:ext cx="25336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800"/>
              </a:spcBef>
              <a:buChar char="•"/>
              <a:defRPr sz="20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15000"/>
              </a:spcBef>
              <a:buChar char="•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5000"/>
              </a:spcBef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buChar char="»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800" dirty="0">
                <a:cs typeface="Arial" charset="0"/>
              </a:rPr>
              <a:t>TI Confidential – NDA Restrictions</a:t>
            </a:r>
          </a:p>
        </p:txBody>
      </p:sp>
    </p:spTree>
    <p:extLst>
      <p:ext uri="{BB962C8B-B14F-4D97-AF65-F5344CB8AC3E}">
        <p14:creationId xmlns:p14="http://schemas.microsoft.com/office/powerpoint/2010/main" val="182413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fontAlgn="base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0" fontAlgn="base" hangingPunct="0">
        <a:spcBef>
          <a:spcPts val="667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711530" indent="-137548" algn="l" rtl="0" eaLnBrk="0" fontAlgn="base" hangingPunct="0">
        <a:spcBef>
          <a:spcPct val="15000"/>
        </a:spcBef>
        <a:spcAft>
          <a:spcPct val="0"/>
        </a:spcAft>
        <a:buChar char="•"/>
        <a:defRPr sz="1500">
          <a:solidFill>
            <a:schemeClr val="tx1"/>
          </a:solidFill>
          <a:latin typeface="+mn-lt"/>
        </a:defRPr>
      </a:lvl3pPr>
      <a:lvl4pPr marL="1001168" indent="-194416" algn="l" rtl="0" eaLnBrk="0" fontAlgn="base" hangingPunct="0">
        <a:spcBef>
          <a:spcPct val="5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240546" indent="-144163" algn="l" rtl="0" eaLnBrk="0" fontAlgn="base" hangingPunct="0">
        <a:spcBef>
          <a:spcPct val="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621441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fontAlgn="base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12" Type="http://schemas.openxmlformats.org/officeDocument/2006/relationships/image" Target="../media/image14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5" Type="http://schemas.openxmlformats.org/officeDocument/2006/relationships/image" Target="../media/image70.png"/><Relationship Id="rId10" Type="http://schemas.openxmlformats.org/officeDocument/2006/relationships/image" Target="../media/image120.png"/><Relationship Id="rId4" Type="http://schemas.openxmlformats.org/officeDocument/2006/relationships/image" Target="../media/image60.png"/><Relationship Id="rId9" Type="http://schemas.openxmlformats.org/officeDocument/2006/relationships/image" Target="../media/image1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png"/><Relationship Id="rId13" Type="http://schemas.openxmlformats.org/officeDocument/2006/relationships/image" Target="../media/image230.png"/><Relationship Id="rId3" Type="http://schemas.openxmlformats.org/officeDocument/2006/relationships/image" Target="../media/image252.png"/><Relationship Id="rId7" Type="http://schemas.openxmlformats.org/officeDocument/2006/relationships/image" Target="../media/image282.png"/><Relationship Id="rId12" Type="http://schemas.openxmlformats.org/officeDocument/2006/relationships/image" Target="../media/image150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4.png"/><Relationship Id="rId5" Type="http://schemas.openxmlformats.org/officeDocument/2006/relationships/image" Target="../media/image181.png"/><Relationship Id="rId4" Type="http://schemas.openxmlformats.org/officeDocument/2006/relationships/image" Target="../media/image171.png"/><Relationship Id="rId9" Type="http://schemas.openxmlformats.org/officeDocument/2006/relationships/image" Target="../media/image39.png"/><Relationship Id="rId14" Type="http://schemas.openxmlformats.org/officeDocument/2006/relationships/image" Target="../media/image241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2" Type="http://schemas.openxmlformats.org/officeDocument/2006/relationships/image" Target="../media/image150.png"/><Relationship Id="rId2" Type="http://schemas.openxmlformats.org/officeDocument/2006/relationships/image" Target="../media/image391.png"/><Relationship Id="rId16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70.png"/><Relationship Id="rId1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0.png"/><Relationship Id="rId18" Type="http://schemas.openxmlformats.org/officeDocument/2006/relationships/image" Target="../media/image330.png"/><Relationship Id="rId3" Type="http://schemas.openxmlformats.org/officeDocument/2006/relationships/image" Target="../media/image331.png"/><Relationship Id="rId21" Type="http://schemas.openxmlformats.org/officeDocument/2006/relationships/image" Target="../media/image390.png"/><Relationship Id="rId12" Type="http://schemas.openxmlformats.org/officeDocument/2006/relationships/image" Target="../media/image150.png"/><Relationship Id="rId17" Type="http://schemas.openxmlformats.org/officeDocument/2006/relationships/image" Target="../media/image320.png"/><Relationship Id="rId2" Type="http://schemas.openxmlformats.org/officeDocument/2006/relationships/image" Target="../media/image332.png"/><Relationship Id="rId16" Type="http://schemas.openxmlformats.org/officeDocument/2006/relationships/image" Target="../media/image310.png"/><Relationship Id="rId20" Type="http://schemas.openxmlformats.org/officeDocument/2006/relationships/image" Target="../media/image2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15" Type="http://schemas.openxmlformats.org/officeDocument/2006/relationships/image" Target="../media/image381.png"/><Relationship Id="rId19" Type="http://schemas.openxmlformats.org/officeDocument/2006/relationships/image" Target="../media/image340.png"/><Relationship Id="rId4" Type="http://schemas.openxmlformats.org/officeDocument/2006/relationships/image" Target="../media/image341.png"/><Relationship Id="rId14" Type="http://schemas.openxmlformats.org/officeDocument/2006/relationships/image" Target="../media/image37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2.png"/><Relationship Id="rId12" Type="http://schemas.openxmlformats.org/officeDocument/2006/relationships/image" Target="../media/image150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301.png"/><Relationship Id="rId14" Type="http://schemas.openxmlformats.org/officeDocument/2006/relationships/image" Target="../media/image2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12" Type="http://schemas.openxmlformats.org/officeDocument/2006/relationships/image" Target="../media/image300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91.png"/><Relationship Id="rId10" Type="http://schemas.openxmlformats.org/officeDocument/2006/relationships/image" Target="../media/image120.png"/><Relationship Id="rId4" Type="http://schemas.openxmlformats.org/officeDocument/2006/relationships/image" Target="../media/image11.png"/><Relationship Id="rId9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Closed-Form Diffraction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Terry Bartlett, Zach Walker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0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Modeling of DMD Diffraction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>
                <a:solidFill>
                  <a:srgbClr val="FF0000"/>
                </a:solidFill>
              </a:rPr>
              <a:t>Ray tracing is not adequate for diffraction efficiency or contrast modeling</a:t>
            </a:r>
          </a:p>
          <a:p>
            <a:r>
              <a:rPr lang="en-US" sz="1600" dirty="0"/>
              <a:t>Generally scalar diffraction theory can be used for calculating diffraction efficiency</a:t>
            </a:r>
          </a:p>
          <a:p>
            <a:pPr lvl="1"/>
            <a:r>
              <a:rPr lang="en-US" sz="1600" dirty="0"/>
              <a:t>Relatively simple DMD model consisting of mirrors only</a:t>
            </a:r>
          </a:p>
          <a:p>
            <a:pPr lvl="1"/>
            <a:r>
              <a:rPr lang="en-US" sz="1600" dirty="0"/>
              <a:t>Incoherently integrate over wavelength and source extent</a:t>
            </a:r>
          </a:p>
          <a:p>
            <a:pPr lvl="1"/>
            <a:r>
              <a:rPr lang="en-US" sz="1600" dirty="0"/>
              <a:t>Reference: “Linear systems formulation of non-paraxial scalar diffraction theory” James E. Harvey, Proc. of SPIE Vol. 8122</a:t>
            </a:r>
          </a:p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Contrast modeling is much more complicated requiring more rigorous electromagnetic modeling (will not be covered here)</a:t>
            </a:r>
          </a:p>
          <a:p>
            <a:pPr lvl="1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Requires very detailed models of pixel structure including dark thin film coatings and CMOS layout</a:t>
            </a:r>
          </a:p>
          <a:p>
            <a:pPr lvl="1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Finite Difference Time Domain (FDTD)  slices very complex 3D geometry into cells and rigorously solves Maxwell’s equations in time </a:t>
            </a:r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375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34067"/>
            <a:ext cx="9364257" cy="857250"/>
          </a:xfrm>
        </p:spPr>
        <p:txBody>
          <a:bodyPr/>
          <a:lstStyle/>
          <a:p>
            <a:r>
              <a:rPr lang="en-US" altLang="en-US" sz="2800" dirty="0"/>
              <a:t>DMD Behaves Similar to  a Blazed Diffraction Grating</a:t>
            </a:r>
          </a:p>
        </p:txBody>
      </p:sp>
      <p:graphicFrame>
        <p:nvGraphicFramePr>
          <p:cNvPr id="284675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26747744"/>
              </p:ext>
            </p:extLst>
          </p:nvPr>
        </p:nvGraphicFramePr>
        <p:xfrm>
          <a:off x="5294216" y="1627654"/>
          <a:ext cx="2743200" cy="535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3" name="Equation" r:id="rId3" imgW="1511280" imgH="393480" progId="Equation.3">
                  <p:embed/>
                </p:oleObj>
              </mc:Choice>
              <mc:Fallback>
                <p:oleObj name="Equation" r:id="rId3" imgW="1511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4216" y="1627654"/>
                        <a:ext cx="2743200" cy="535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4676" name="Group 4"/>
          <p:cNvGrpSpPr>
            <a:grpSpLocks/>
          </p:cNvGrpSpPr>
          <p:nvPr/>
        </p:nvGrpSpPr>
        <p:grpSpPr bwMode="auto">
          <a:xfrm>
            <a:off x="2145066" y="1500389"/>
            <a:ext cx="2808636" cy="2667996"/>
            <a:chOff x="1056" y="912"/>
            <a:chExt cx="2210" cy="2010"/>
          </a:xfrm>
        </p:grpSpPr>
        <p:graphicFrame>
          <p:nvGraphicFramePr>
            <p:cNvPr id="284677" name="Object 5"/>
            <p:cNvGraphicFramePr>
              <a:graphicFrameLocks noChangeAspect="1"/>
            </p:cNvGraphicFramePr>
            <p:nvPr/>
          </p:nvGraphicFramePr>
          <p:xfrm>
            <a:off x="1872" y="1488"/>
            <a:ext cx="192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4" name="Equation" r:id="rId5" imgW="266400" imgH="241200" progId="Equation.3">
                    <p:embed/>
                  </p:oleObj>
                </mc:Choice>
                <mc:Fallback>
                  <p:oleObj name="Equation" r:id="rId5" imgW="2664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488"/>
                          <a:ext cx="192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4678" name="Line 6"/>
            <p:cNvSpPr>
              <a:spLocks noChangeShapeType="1"/>
            </p:cNvSpPr>
            <p:nvPr/>
          </p:nvSpPr>
          <p:spPr bwMode="auto">
            <a:xfrm flipH="1">
              <a:off x="1248" y="2476"/>
              <a:ext cx="24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79" name="Line 7"/>
            <p:cNvSpPr>
              <a:spLocks noChangeShapeType="1"/>
            </p:cNvSpPr>
            <p:nvPr/>
          </p:nvSpPr>
          <p:spPr bwMode="auto">
            <a:xfrm flipH="1">
              <a:off x="1488" y="2476"/>
              <a:ext cx="24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80" name="Line 8"/>
            <p:cNvSpPr>
              <a:spLocks noChangeShapeType="1"/>
            </p:cNvSpPr>
            <p:nvPr/>
          </p:nvSpPr>
          <p:spPr bwMode="auto">
            <a:xfrm flipH="1">
              <a:off x="1728" y="2476"/>
              <a:ext cx="24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81" name="Line 9"/>
            <p:cNvSpPr>
              <a:spLocks noChangeShapeType="1"/>
            </p:cNvSpPr>
            <p:nvPr/>
          </p:nvSpPr>
          <p:spPr bwMode="auto">
            <a:xfrm flipH="1">
              <a:off x="1968" y="2476"/>
              <a:ext cx="24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82" name="Line 10"/>
            <p:cNvSpPr>
              <a:spLocks noChangeShapeType="1"/>
            </p:cNvSpPr>
            <p:nvPr/>
          </p:nvSpPr>
          <p:spPr bwMode="auto">
            <a:xfrm flipH="1">
              <a:off x="2208" y="2476"/>
              <a:ext cx="24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83" name="Line 11"/>
            <p:cNvSpPr>
              <a:spLocks noChangeShapeType="1"/>
            </p:cNvSpPr>
            <p:nvPr/>
          </p:nvSpPr>
          <p:spPr bwMode="auto">
            <a:xfrm flipH="1">
              <a:off x="2688" y="2476"/>
              <a:ext cx="24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84" name="Line 12"/>
            <p:cNvSpPr>
              <a:spLocks noChangeShapeType="1"/>
            </p:cNvSpPr>
            <p:nvPr/>
          </p:nvSpPr>
          <p:spPr bwMode="auto">
            <a:xfrm flipH="1">
              <a:off x="2448" y="2476"/>
              <a:ext cx="24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85" name="Line 13"/>
            <p:cNvSpPr>
              <a:spLocks noChangeShapeType="1"/>
            </p:cNvSpPr>
            <p:nvPr/>
          </p:nvSpPr>
          <p:spPr bwMode="auto">
            <a:xfrm>
              <a:off x="1056" y="1584"/>
              <a:ext cx="672" cy="853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86" name="Line 14"/>
            <p:cNvSpPr>
              <a:spLocks noChangeShapeType="1"/>
            </p:cNvSpPr>
            <p:nvPr/>
          </p:nvSpPr>
          <p:spPr bwMode="auto">
            <a:xfrm flipV="1">
              <a:off x="1920" y="1557"/>
              <a:ext cx="624" cy="84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87" name="Text Box 15"/>
            <p:cNvSpPr txBox="1">
              <a:spLocks noChangeArrowheads="1"/>
            </p:cNvSpPr>
            <p:nvPr/>
          </p:nvSpPr>
          <p:spPr bwMode="auto">
            <a:xfrm>
              <a:off x="2496" y="1392"/>
              <a:ext cx="369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400"/>
                <a:t>0 order</a:t>
              </a:r>
              <a:endParaRPr lang="en-US" altLang="en-US"/>
            </a:p>
          </p:txBody>
        </p:sp>
        <p:sp>
          <p:nvSpPr>
            <p:cNvPr id="284688" name="Line 16"/>
            <p:cNvSpPr>
              <a:spLocks noChangeShapeType="1"/>
            </p:cNvSpPr>
            <p:nvPr/>
          </p:nvSpPr>
          <p:spPr bwMode="auto">
            <a:xfrm flipV="1">
              <a:off x="1824" y="1488"/>
              <a:ext cx="384" cy="9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89" name="Line 17"/>
            <p:cNvSpPr>
              <a:spLocks noChangeShapeType="1"/>
            </p:cNvSpPr>
            <p:nvPr/>
          </p:nvSpPr>
          <p:spPr bwMode="auto">
            <a:xfrm flipV="1">
              <a:off x="1872" y="1536"/>
              <a:ext cx="480" cy="8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90" name="Text Box 18"/>
            <p:cNvSpPr txBox="1">
              <a:spLocks noChangeArrowheads="1"/>
            </p:cNvSpPr>
            <p:nvPr/>
          </p:nvSpPr>
          <p:spPr bwMode="auto">
            <a:xfrm>
              <a:off x="1859" y="1262"/>
              <a:ext cx="32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200" dirty="0"/>
                <a:t>M = +2</a:t>
              </a:r>
            </a:p>
          </p:txBody>
        </p:sp>
        <p:sp>
          <p:nvSpPr>
            <p:cNvPr id="284691" name="Line 19"/>
            <p:cNvSpPr>
              <a:spLocks noChangeShapeType="1"/>
            </p:cNvSpPr>
            <p:nvPr/>
          </p:nvSpPr>
          <p:spPr bwMode="auto">
            <a:xfrm flipV="1">
              <a:off x="1920" y="1680"/>
              <a:ext cx="768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92" name="Text Box 20"/>
            <p:cNvSpPr txBox="1">
              <a:spLocks noChangeArrowheads="1"/>
            </p:cNvSpPr>
            <p:nvPr/>
          </p:nvSpPr>
          <p:spPr bwMode="auto">
            <a:xfrm>
              <a:off x="2241" y="1357"/>
              <a:ext cx="177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1200" dirty="0"/>
                <a:t>+1</a:t>
              </a:r>
            </a:p>
          </p:txBody>
        </p:sp>
        <p:sp>
          <p:nvSpPr>
            <p:cNvPr id="284693" name="Line 21"/>
            <p:cNvSpPr>
              <a:spLocks noChangeShapeType="1"/>
            </p:cNvSpPr>
            <p:nvPr/>
          </p:nvSpPr>
          <p:spPr bwMode="auto">
            <a:xfrm>
              <a:off x="1392" y="26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94" name="Line 22"/>
            <p:cNvSpPr>
              <a:spLocks noChangeShapeType="1"/>
            </p:cNvSpPr>
            <p:nvPr/>
          </p:nvSpPr>
          <p:spPr bwMode="auto">
            <a:xfrm>
              <a:off x="1584" y="2596"/>
              <a:ext cx="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95" name="Line 23"/>
            <p:cNvSpPr>
              <a:spLocks noChangeShapeType="1"/>
            </p:cNvSpPr>
            <p:nvPr/>
          </p:nvSpPr>
          <p:spPr bwMode="auto">
            <a:xfrm>
              <a:off x="1392" y="2596"/>
              <a:ext cx="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96" name="Text Box 24"/>
            <p:cNvSpPr txBox="1">
              <a:spLocks noChangeArrowheads="1"/>
            </p:cNvSpPr>
            <p:nvPr/>
          </p:nvSpPr>
          <p:spPr bwMode="auto">
            <a:xfrm>
              <a:off x="1382" y="2656"/>
              <a:ext cx="173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D</a:t>
              </a:r>
            </a:p>
          </p:txBody>
        </p:sp>
        <p:sp>
          <p:nvSpPr>
            <p:cNvPr id="284697" name="Text Box 25"/>
            <p:cNvSpPr txBox="1">
              <a:spLocks noChangeArrowheads="1"/>
            </p:cNvSpPr>
            <p:nvPr/>
          </p:nvSpPr>
          <p:spPr bwMode="auto">
            <a:xfrm>
              <a:off x="2784" y="1536"/>
              <a:ext cx="38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200" dirty="0"/>
                <a:t>-1</a:t>
              </a:r>
            </a:p>
          </p:txBody>
        </p:sp>
        <p:sp>
          <p:nvSpPr>
            <p:cNvPr id="284698" name="Line 26"/>
            <p:cNvSpPr>
              <a:spLocks noChangeShapeType="1"/>
            </p:cNvSpPr>
            <p:nvPr/>
          </p:nvSpPr>
          <p:spPr bwMode="auto">
            <a:xfrm flipV="1">
              <a:off x="1968" y="1824"/>
              <a:ext cx="86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699" name="Line 27"/>
            <p:cNvSpPr>
              <a:spLocks noChangeShapeType="1"/>
            </p:cNvSpPr>
            <p:nvPr/>
          </p:nvSpPr>
          <p:spPr bwMode="auto">
            <a:xfrm>
              <a:off x="1776" y="1104"/>
              <a:ext cx="0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700" name="Text Box 28"/>
            <p:cNvSpPr txBox="1">
              <a:spLocks noChangeArrowheads="1"/>
            </p:cNvSpPr>
            <p:nvPr/>
          </p:nvSpPr>
          <p:spPr bwMode="auto">
            <a:xfrm>
              <a:off x="1536" y="912"/>
              <a:ext cx="437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normal</a:t>
              </a:r>
            </a:p>
          </p:txBody>
        </p:sp>
        <p:sp>
          <p:nvSpPr>
            <p:cNvPr id="284701" name="Line 29"/>
            <p:cNvSpPr>
              <a:spLocks noChangeShapeType="1"/>
            </p:cNvSpPr>
            <p:nvPr/>
          </p:nvSpPr>
          <p:spPr bwMode="auto">
            <a:xfrm flipV="1">
              <a:off x="1632" y="1824"/>
              <a:ext cx="14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702" name="Line 30"/>
            <p:cNvSpPr>
              <a:spLocks noChangeShapeType="1"/>
            </p:cNvSpPr>
            <p:nvPr/>
          </p:nvSpPr>
          <p:spPr bwMode="auto">
            <a:xfrm flipH="1">
              <a:off x="1344" y="1920"/>
              <a:ext cx="14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84703" name="Object 31"/>
            <p:cNvGraphicFramePr>
              <a:graphicFrameLocks noChangeAspect="1"/>
            </p:cNvGraphicFramePr>
            <p:nvPr/>
          </p:nvGraphicFramePr>
          <p:xfrm>
            <a:off x="1392" y="1632"/>
            <a:ext cx="196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" name="Equation" r:id="rId7" imgW="228600" imgH="228600" progId="Equation.3">
                    <p:embed/>
                  </p:oleObj>
                </mc:Choice>
                <mc:Fallback>
                  <p:oleObj name="Equation" r:id="rId7" imgW="228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632"/>
                          <a:ext cx="196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4704" name="Line 32"/>
            <p:cNvSpPr>
              <a:spLocks noChangeShapeType="1"/>
            </p:cNvSpPr>
            <p:nvPr/>
          </p:nvSpPr>
          <p:spPr bwMode="auto">
            <a:xfrm>
              <a:off x="1968" y="1776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705" name="Line 33"/>
            <p:cNvSpPr>
              <a:spLocks noChangeShapeType="1"/>
            </p:cNvSpPr>
            <p:nvPr/>
          </p:nvSpPr>
          <p:spPr bwMode="auto">
            <a:xfrm flipH="1" flipV="1">
              <a:off x="1776" y="16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706" name="Text Box 34"/>
            <p:cNvSpPr txBox="1">
              <a:spLocks noChangeArrowheads="1"/>
            </p:cNvSpPr>
            <p:nvPr/>
          </p:nvSpPr>
          <p:spPr bwMode="auto">
            <a:xfrm>
              <a:off x="2880" y="1680"/>
              <a:ext cx="38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200"/>
                <a:t>-2</a:t>
              </a:r>
            </a:p>
          </p:txBody>
        </p:sp>
      </p:grpSp>
      <p:sp>
        <p:nvSpPr>
          <p:cNvPr id="284707" name="Rectangle 35"/>
          <p:cNvSpPr>
            <a:spLocks noChangeArrowheads="1"/>
          </p:cNvSpPr>
          <p:nvPr/>
        </p:nvSpPr>
        <p:spPr bwMode="auto">
          <a:xfrm>
            <a:off x="4951159" y="1080804"/>
            <a:ext cx="39624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en-US" sz="1400" dirty="0"/>
              <a:t> Direction of reflected light at each diffraction order, m, given by the grating equation</a:t>
            </a:r>
          </a:p>
          <a:p>
            <a:endParaRPr lang="en-US" altLang="en-US" sz="1400" dirty="0"/>
          </a:p>
          <a:p>
            <a:endParaRPr lang="en-US" altLang="en-US" sz="1400" dirty="0"/>
          </a:p>
          <a:p>
            <a:endParaRPr lang="en-US" altLang="en-US" sz="1400" dirty="0"/>
          </a:p>
          <a:p>
            <a:r>
              <a:rPr lang="en-US" altLang="en-US" sz="1400" dirty="0"/>
              <a:t>where D is the pitch</a:t>
            </a:r>
          </a:p>
          <a:p>
            <a:pPr>
              <a:buFontTx/>
              <a:buChar char="•"/>
            </a:pPr>
            <a:endParaRPr lang="en-US" altLang="en-US" sz="1400" dirty="0"/>
          </a:p>
          <a:p>
            <a:pPr>
              <a:buFontTx/>
              <a:buChar char="•"/>
            </a:pPr>
            <a:r>
              <a:rPr lang="en-US" altLang="en-US" sz="1400" dirty="0"/>
              <a:t> Direction/separation of diffraction orders varies with mirror pitch and wavelength</a:t>
            </a:r>
          </a:p>
          <a:p>
            <a:pPr>
              <a:buFontTx/>
              <a:buChar char="•"/>
            </a:pPr>
            <a:endParaRPr lang="en-US" altLang="en-US" sz="1400" dirty="0"/>
          </a:p>
          <a:p>
            <a:pPr>
              <a:buFontTx/>
              <a:buChar char="•"/>
            </a:pPr>
            <a:r>
              <a:rPr lang="en-US" altLang="en-US" sz="1400" dirty="0"/>
              <a:t> Diffraction orders are fixed and do not separate/spread with mirror tilt</a:t>
            </a:r>
          </a:p>
          <a:p>
            <a:pPr>
              <a:buFontTx/>
              <a:buChar char="•"/>
            </a:pPr>
            <a:endParaRPr lang="en-US" altLang="en-US" sz="1400" dirty="0"/>
          </a:p>
          <a:p>
            <a:pPr>
              <a:buFontTx/>
              <a:buChar char="•"/>
            </a:pPr>
            <a:r>
              <a:rPr lang="en-US" altLang="en-US" sz="1400" dirty="0"/>
              <a:t> As wavelength increases, so does separation between diffraction orders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7198" y="1329935"/>
            <a:ext cx="2238803" cy="2838450"/>
            <a:chOff x="47198" y="1329935"/>
            <a:chExt cx="2238803" cy="2838450"/>
          </a:xfrm>
        </p:grpSpPr>
        <p:pic>
          <p:nvPicPr>
            <p:cNvPr id="2089" name="Picture 41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98" y="1329935"/>
              <a:ext cx="2238802" cy="2838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1674255" y="1893287"/>
              <a:ext cx="611746" cy="6265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8630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Blaze Condition </a:t>
            </a:r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 flipH="1">
            <a:off x="762000" y="2490788"/>
            <a:ext cx="381000" cy="47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 flipH="1">
            <a:off x="1143000" y="2490788"/>
            <a:ext cx="381000" cy="47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 flipH="1">
            <a:off x="1524000" y="2490788"/>
            <a:ext cx="381000" cy="47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 flipH="1">
            <a:off x="1905000" y="2490788"/>
            <a:ext cx="381000" cy="47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 flipH="1">
            <a:off x="2286000" y="2490788"/>
            <a:ext cx="381000" cy="47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Line 10"/>
          <p:cNvSpPr>
            <a:spLocks noChangeShapeType="1"/>
          </p:cNvSpPr>
          <p:nvPr/>
        </p:nvSpPr>
        <p:spPr bwMode="auto">
          <a:xfrm flipH="1">
            <a:off x="3048000" y="2490788"/>
            <a:ext cx="381000" cy="47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 flipH="1">
            <a:off x="2667000" y="2490788"/>
            <a:ext cx="381000" cy="47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>
            <a:off x="533400" y="1428750"/>
            <a:ext cx="1066800" cy="1015604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 flipV="1">
            <a:off x="1828800" y="1396604"/>
            <a:ext cx="990600" cy="10001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2286000" y="1657350"/>
            <a:ext cx="75052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0 order</a:t>
            </a:r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 flipH="1" flipV="1">
            <a:off x="1600200" y="857250"/>
            <a:ext cx="76200" cy="15394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 flipV="1">
            <a:off x="1752600" y="1257300"/>
            <a:ext cx="228600" cy="11394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1600200" y="1200150"/>
            <a:ext cx="31451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N</a:t>
            </a:r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 flipH="1" flipV="1">
            <a:off x="1371600" y="1257300"/>
            <a:ext cx="228600" cy="1085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1828800" y="1543050"/>
            <a:ext cx="47320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N-1</a:t>
            </a:r>
          </a:p>
        </p:txBody>
      </p:sp>
      <p:sp>
        <p:nvSpPr>
          <p:cNvPr id="15382" name="Line 22"/>
          <p:cNvSpPr>
            <a:spLocks noChangeShapeType="1"/>
          </p:cNvSpPr>
          <p:nvPr/>
        </p:nvSpPr>
        <p:spPr bwMode="auto">
          <a:xfrm>
            <a:off x="990600" y="26812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3" name="Line 23"/>
          <p:cNvSpPr>
            <a:spLocks noChangeShapeType="1"/>
          </p:cNvSpPr>
          <p:nvPr/>
        </p:nvSpPr>
        <p:spPr bwMode="auto">
          <a:xfrm>
            <a:off x="1295400" y="2633663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4" name="Line 24"/>
          <p:cNvSpPr>
            <a:spLocks noChangeShapeType="1"/>
          </p:cNvSpPr>
          <p:nvPr/>
        </p:nvSpPr>
        <p:spPr bwMode="auto">
          <a:xfrm>
            <a:off x="990600" y="2633663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974725" y="2705100"/>
            <a:ext cx="3513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D</a:t>
            </a:r>
          </a:p>
        </p:txBody>
      </p:sp>
      <p:sp>
        <p:nvSpPr>
          <p:cNvPr id="15409" name="Text Box 49"/>
          <p:cNvSpPr txBox="1">
            <a:spLocks noChangeArrowheads="1"/>
          </p:cNvSpPr>
          <p:nvPr/>
        </p:nvSpPr>
        <p:spPr bwMode="auto">
          <a:xfrm>
            <a:off x="990601" y="1485900"/>
            <a:ext cx="6127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400"/>
              <a:t>N+1</a:t>
            </a:r>
          </a:p>
        </p:txBody>
      </p:sp>
      <p:sp>
        <p:nvSpPr>
          <p:cNvPr id="15388" name="Line 28"/>
          <p:cNvSpPr>
            <a:spLocks noChangeShapeType="1"/>
          </p:cNvSpPr>
          <p:nvPr/>
        </p:nvSpPr>
        <p:spPr bwMode="auto">
          <a:xfrm flipH="1">
            <a:off x="5029200" y="2400300"/>
            <a:ext cx="381000" cy="80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9" name="Line 29"/>
          <p:cNvSpPr>
            <a:spLocks noChangeShapeType="1"/>
          </p:cNvSpPr>
          <p:nvPr/>
        </p:nvSpPr>
        <p:spPr bwMode="auto">
          <a:xfrm flipH="1">
            <a:off x="5410200" y="2400300"/>
            <a:ext cx="381000" cy="80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0" name="Line 30"/>
          <p:cNvSpPr>
            <a:spLocks noChangeShapeType="1"/>
          </p:cNvSpPr>
          <p:nvPr/>
        </p:nvSpPr>
        <p:spPr bwMode="auto">
          <a:xfrm flipH="1">
            <a:off x="5791200" y="2400300"/>
            <a:ext cx="381000" cy="80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1" name="Line 31"/>
          <p:cNvSpPr>
            <a:spLocks noChangeShapeType="1"/>
          </p:cNvSpPr>
          <p:nvPr/>
        </p:nvSpPr>
        <p:spPr bwMode="auto">
          <a:xfrm flipH="1">
            <a:off x="6172200" y="2400300"/>
            <a:ext cx="381000" cy="80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2" name="Line 32"/>
          <p:cNvSpPr>
            <a:spLocks noChangeShapeType="1"/>
          </p:cNvSpPr>
          <p:nvPr/>
        </p:nvSpPr>
        <p:spPr bwMode="auto">
          <a:xfrm flipH="1">
            <a:off x="6553200" y="2400300"/>
            <a:ext cx="381000" cy="80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3" name="Line 33"/>
          <p:cNvSpPr>
            <a:spLocks noChangeShapeType="1"/>
          </p:cNvSpPr>
          <p:nvPr/>
        </p:nvSpPr>
        <p:spPr bwMode="auto">
          <a:xfrm flipH="1">
            <a:off x="7315200" y="2400300"/>
            <a:ext cx="381000" cy="80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4" name="Line 34"/>
          <p:cNvSpPr>
            <a:spLocks noChangeShapeType="1"/>
          </p:cNvSpPr>
          <p:nvPr/>
        </p:nvSpPr>
        <p:spPr bwMode="auto">
          <a:xfrm flipH="1">
            <a:off x="6934200" y="2400300"/>
            <a:ext cx="381000" cy="809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5" name="Line 45"/>
          <p:cNvSpPr>
            <a:spLocks noChangeShapeType="1"/>
          </p:cNvSpPr>
          <p:nvPr/>
        </p:nvSpPr>
        <p:spPr bwMode="auto">
          <a:xfrm>
            <a:off x="5257800" y="262413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6" name="Line 46"/>
          <p:cNvSpPr>
            <a:spLocks noChangeShapeType="1"/>
          </p:cNvSpPr>
          <p:nvPr/>
        </p:nvSpPr>
        <p:spPr bwMode="auto">
          <a:xfrm>
            <a:off x="5562600" y="2576513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7" name="Line 47"/>
          <p:cNvSpPr>
            <a:spLocks noChangeShapeType="1"/>
          </p:cNvSpPr>
          <p:nvPr/>
        </p:nvSpPr>
        <p:spPr bwMode="auto">
          <a:xfrm>
            <a:off x="5257800" y="2576513"/>
            <a:ext cx="0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8" name="Text Box 48"/>
          <p:cNvSpPr txBox="1">
            <a:spLocks noChangeArrowheads="1"/>
          </p:cNvSpPr>
          <p:nvPr/>
        </p:nvSpPr>
        <p:spPr bwMode="auto">
          <a:xfrm>
            <a:off x="5241925" y="2647950"/>
            <a:ext cx="3513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D</a:t>
            </a:r>
          </a:p>
        </p:txBody>
      </p:sp>
      <p:sp>
        <p:nvSpPr>
          <p:cNvPr id="15410" name="Line 50"/>
          <p:cNvSpPr>
            <a:spLocks noChangeShapeType="1"/>
          </p:cNvSpPr>
          <p:nvPr/>
        </p:nvSpPr>
        <p:spPr bwMode="auto">
          <a:xfrm>
            <a:off x="4800600" y="1346598"/>
            <a:ext cx="1066800" cy="1015603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1" name="Line 51"/>
          <p:cNvSpPr>
            <a:spLocks noChangeShapeType="1"/>
          </p:cNvSpPr>
          <p:nvPr/>
        </p:nvSpPr>
        <p:spPr bwMode="auto">
          <a:xfrm flipV="1">
            <a:off x="6096000" y="1314450"/>
            <a:ext cx="990600" cy="10001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2" name="Line 52"/>
          <p:cNvSpPr>
            <a:spLocks noChangeShapeType="1"/>
          </p:cNvSpPr>
          <p:nvPr/>
        </p:nvSpPr>
        <p:spPr bwMode="auto">
          <a:xfrm flipV="1">
            <a:off x="5943600" y="1085850"/>
            <a:ext cx="0" cy="1200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3" name="Line 53"/>
          <p:cNvSpPr>
            <a:spLocks noChangeShapeType="1"/>
          </p:cNvSpPr>
          <p:nvPr/>
        </p:nvSpPr>
        <p:spPr bwMode="auto">
          <a:xfrm flipV="1">
            <a:off x="6019800" y="1143000"/>
            <a:ext cx="228600" cy="1171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4" name="Text Box 54"/>
          <p:cNvSpPr txBox="1">
            <a:spLocks noChangeArrowheads="1"/>
          </p:cNvSpPr>
          <p:nvPr/>
        </p:nvSpPr>
        <p:spPr bwMode="auto">
          <a:xfrm>
            <a:off x="5791200" y="1403747"/>
            <a:ext cx="31451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N</a:t>
            </a:r>
          </a:p>
        </p:txBody>
      </p:sp>
      <p:sp>
        <p:nvSpPr>
          <p:cNvPr id="15415" name="Line 55"/>
          <p:cNvSpPr>
            <a:spLocks noChangeShapeType="1"/>
          </p:cNvSpPr>
          <p:nvPr/>
        </p:nvSpPr>
        <p:spPr bwMode="auto">
          <a:xfrm flipH="1" flipV="1">
            <a:off x="5562600" y="1143001"/>
            <a:ext cx="304800" cy="11179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6" name="Text Box 56"/>
          <p:cNvSpPr txBox="1">
            <a:spLocks noChangeArrowheads="1"/>
          </p:cNvSpPr>
          <p:nvPr/>
        </p:nvSpPr>
        <p:spPr bwMode="auto">
          <a:xfrm>
            <a:off x="6096000" y="1460897"/>
            <a:ext cx="47320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N-1</a:t>
            </a:r>
          </a:p>
        </p:txBody>
      </p:sp>
      <p:sp>
        <p:nvSpPr>
          <p:cNvPr id="15417" name="Text Box 57"/>
          <p:cNvSpPr txBox="1">
            <a:spLocks noChangeArrowheads="1"/>
          </p:cNvSpPr>
          <p:nvPr/>
        </p:nvSpPr>
        <p:spPr bwMode="auto">
          <a:xfrm>
            <a:off x="5410201" y="1460897"/>
            <a:ext cx="6127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400"/>
              <a:t>N+1</a:t>
            </a:r>
          </a:p>
        </p:txBody>
      </p:sp>
      <p:sp>
        <p:nvSpPr>
          <p:cNvPr id="15418" name="Text Box 58"/>
          <p:cNvSpPr txBox="1">
            <a:spLocks noChangeArrowheads="1"/>
          </p:cNvSpPr>
          <p:nvPr/>
        </p:nvSpPr>
        <p:spPr bwMode="auto">
          <a:xfrm>
            <a:off x="6629400" y="1485900"/>
            <a:ext cx="75052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/>
              <a:t>0 order</a:t>
            </a:r>
          </a:p>
        </p:txBody>
      </p:sp>
      <p:sp>
        <p:nvSpPr>
          <p:cNvPr id="15423" name="Freeform 63"/>
          <p:cNvSpPr>
            <a:spLocks/>
          </p:cNvSpPr>
          <p:nvPr/>
        </p:nvSpPr>
        <p:spPr bwMode="auto">
          <a:xfrm>
            <a:off x="990600" y="800100"/>
            <a:ext cx="1371600" cy="514350"/>
          </a:xfrm>
          <a:custGeom>
            <a:avLst/>
            <a:gdLst>
              <a:gd name="T0" fmla="*/ 0 w 864"/>
              <a:gd name="T1" fmla="*/ 384 h 432"/>
              <a:gd name="T2" fmla="*/ 96 w 864"/>
              <a:gd name="T3" fmla="*/ 192 h 432"/>
              <a:gd name="T4" fmla="*/ 240 w 864"/>
              <a:gd name="T5" fmla="*/ 384 h 432"/>
              <a:gd name="T6" fmla="*/ 384 w 864"/>
              <a:gd name="T7" fmla="*/ 0 h 432"/>
              <a:gd name="T8" fmla="*/ 624 w 864"/>
              <a:gd name="T9" fmla="*/ 384 h 432"/>
              <a:gd name="T10" fmla="*/ 768 w 864"/>
              <a:gd name="T11" fmla="*/ 192 h 432"/>
              <a:gd name="T12" fmla="*/ 864 w 864"/>
              <a:gd name="T13" fmla="*/ 432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4" h="432">
                <a:moveTo>
                  <a:pt x="0" y="384"/>
                </a:moveTo>
                <a:cubicBezTo>
                  <a:pt x="28" y="288"/>
                  <a:pt x="56" y="192"/>
                  <a:pt x="96" y="192"/>
                </a:cubicBezTo>
                <a:cubicBezTo>
                  <a:pt x="136" y="192"/>
                  <a:pt x="192" y="416"/>
                  <a:pt x="240" y="384"/>
                </a:cubicBezTo>
                <a:cubicBezTo>
                  <a:pt x="288" y="352"/>
                  <a:pt x="320" y="0"/>
                  <a:pt x="384" y="0"/>
                </a:cubicBezTo>
                <a:cubicBezTo>
                  <a:pt x="448" y="0"/>
                  <a:pt x="560" y="352"/>
                  <a:pt x="624" y="384"/>
                </a:cubicBezTo>
                <a:cubicBezTo>
                  <a:pt x="688" y="416"/>
                  <a:pt x="728" y="184"/>
                  <a:pt x="768" y="192"/>
                </a:cubicBezTo>
                <a:cubicBezTo>
                  <a:pt x="808" y="200"/>
                  <a:pt x="848" y="392"/>
                  <a:pt x="864" y="4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4" name="Freeform 64"/>
          <p:cNvSpPr>
            <a:spLocks/>
          </p:cNvSpPr>
          <p:nvPr/>
        </p:nvSpPr>
        <p:spPr bwMode="auto">
          <a:xfrm>
            <a:off x="5105400" y="800100"/>
            <a:ext cx="1371600" cy="514350"/>
          </a:xfrm>
          <a:custGeom>
            <a:avLst/>
            <a:gdLst>
              <a:gd name="T0" fmla="*/ 0 w 864"/>
              <a:gd name="T1" fmla="*/ 384 h 432"/>
              <a:gd name="T2" fmla="*/ 96 w 864"/>
              <a:gd name="T3" fmla="*/ 192 h 432"/>
              <a:gd name="T4" fmla="*/ 240 w 864"/>
              <a:gd name="T5" fmla="*/ 384 h 432"/>
              <a:gd name="T6" fmla="*/ 384 w 864"/>
              <a:gd name="T7" fmla="*/ 0 h 432"/>
              <a:gd name="T8" fmla="*/ 624 w 864"/>
              <a:gd name="T9" fmla="*/ 384 h 432"/>
              <a:gd name="T10" fmla="*/ 768 w 864"/>
              <a:gd name="T11" fmla="*/ 192 h 432"/>
              <a:gd name="T12" fmla="*/ 864 w 864"/>
              <a:gd name="T13" fmla="*/ 432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4" h="432">
                <a:moveTo>
                  <a:pt x="0" y="384"/>
                </a:moveTo>
                <a:cubicBezTo>
                  <a:pt x="28" y="288"/>
                  <a:pt x="56" y="192"/>
                  <a:pt x="96" y="192"/>
                </a:cubicBezTo>
                <a:cubicBezTo>
                  <a:pt x="136" y="192"/>
                  <a:pt x="192" y="416"/>
                  <a:pt x="240" y="384"/>
                </a:cubicBezTo>
                <a:cubicBezTo>
                  <a:pt x="288" y="352"/>
                  <a:pt x="320" y="0"/>
                  <a:pt x="384" y="0"/>
                </a:cubicBezTo>
                <a:cubicBezTo>
                  <a:pt x="448" y="0"/>
                  <a:pt x="560" y="352"/>
                  <a:pt x="624" y="384"/>
                </a:cubicBezTo>
                <a:cubicBezTo>
                  <a:pt x="688" y="416"/>
                  <a:pt x="728" y="184"/>
                  <a:pt x="768" y="192"/>
                </a:cubicBezTo>
                <a:cubicBezTo>
                  <a:pt x="808" y="200"/>
                  <a:pt x="848" y="392"/>
                  <a:pt x="864" y="4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5" name="Text Box 65"/>
          <p:cNvSpPr txBox="1">
            <a:spLocks noChangeArrowheads="1"/>
          </p:cNvSpPr>
          <p:nvPr/>
        </p:nvSpPr>
        <p:spPr bwMode="auto">
          <a:xfrm>
            <a:off x="2302006" y="3208572"/>
            <a:ext cx="18373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 dirty="0"/>
              <a:t>Blaze condition:</a:t>
            </a:r>
          </a:p>
          <a:p>
            <a:r>
              <a:rPr lang="en-US" altLang="en-US" sz="1200" dirty="0"/>
              <a:t>Nearly all energy in one </a:t>
            </a:r>
          </a:p>
          <a:p>
            <a:r>
              <a:rPr lang="en-US" altLang="en-US" sz="1200" dirty="0"/>
              <a:t>diffraction order</a:t>
            </a:r>
          </a:p>
        </p:txBody>
      </p:sp>
      <p:sp>
        <p:nvSpPr>
          <p:cNvPr id="15426" name="Oval 66"/>
          <p:cNvSpPr>
            <a:spLocks noChangeArrowheads="1"/>
          </p:cNvSpPr>
          <p:nvPr/>
        </p:nvSpPr>
        <p:spPr bwMode="auto">
          <a:xfrm>
            <a:off x="1524000" y="3486150"/>
            <a:ext cx="152400" cy="1143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7" name="Oval 67"/>
          <p:cNvSpPr>
            <a:spLocks noChangeArrowheads="1"/>
          </p:cNvSpPr>
          <p:nvPr/>
        </p:nvSpPr>
        <p:spPr bwMode="auto">
          <a:xfrm>
            <a:off x="5791200" y="3371850"/>
            <a:ext cx="152400" cy="1143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8" name="Oval 68"/>
          <p:cNvSpPr>
            <a:spLocks noChangeArrowheads="1"/>
          </p:cNvSpPr>
          <p:nvPr/>
        </p:nvSpPr>
        <p:spPr bwMode="auto">
          <a:xfrm>
            <a:off x="6172200" y="3371850"/>
            <a:ext cx="152400" cy="1143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9" name="Oval 69"/>
          <p:cNvSpPr>
            <a:spLocks noChangeArrowheads="1"/>
          </p:cNvSpPr>
          <p:nvPr/>
        </p:nvSpPr>
        <p:spPr bwMode="auto">
          <a:xfrm>
            <a:off x="5791200" y="3657600"/>
            <a:ext cx="152400" cy="1143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0" name="Oval 70"/>
          <p:cNvSpPr>
            <a:spLocks noChangeArrowheads="1"/>
          </p:cNvSpPr>
          <p:nvPr/>
        </p:nvSpPr>
        <p:spPr bwMode="auto">
          <a:xfrm>
            <a:off x="6172200" y="3657600"/>
            <a:ext cx="152400" cy="1143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1" name="Text Box 71"/>
          <p:cNvSpPr txBox="1">
            <a:spLocks noChangeArrowheads="1"/>
          </p:cNvSpPr>
          <p:nvPr/>
        </p:nvSpPr>
        <p:spPr bwMode="auto">
          <a:xfrm>
            <a:off x="7004663" y="3228055"/>
            <a:ext cx="18036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 dirty="0"/>
              <a:t>Off-blaze condition:</a:t>
            </a:r>
          </a:p>
          <a:p>
            <a:r>
              <a:rPr lang="en-US" altLang="en-US" sz="1200" dirty="0"/>
              <a:t>Energy spread between</a:t>
            </a:r>
          </a:p>
          <a:p>
            <a:r>
              <a:rPr lang="en-US" altLang="en-US" sz="1200" dirty="0"/>
              <a:t>multiple orders</a:t>
            </a:r>
          </a:p>
        </p:txBody>
      </p:sp>
      <p:sp>
        <p:nvSpPr>
          <p:cNvPr id="15432" name="Text Box 72"/>
          <p:cNvSpPr txBox="1">
            <a:spLocks noChangeArrowheads="1"/>
          </p:cNvSpPr>
          <p:nvPr/>
        </p:nvSpPr>
        <p:spPr bwMode="auto">
          <a:xfrm>
            <a:off x="2590800" y="2171700"/>
            <a:ext cx="11789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 dirty="0"/>
              <a:t>Tilt angle 1</a:t>
            </a:r>
          </a:p>
        </p:txBody>
      </p:sp>
      <p:sp>
        <p:nvSpPr>
          <p:cNvPr id="15433" name="Text Box 73"/>
          <p:cNvSpPr txBox="1">
            <a:spLocks noChangeArrowheads="1"/>
          </p:cNvSpPr>
          <p:nvPr/>
        </p:nvSpPr>
        <p:spPr bwMode="auto">
          <a:xfrm>
            <a:off x="6781800" y="2114550"/>
            <a:ext cx="117891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Tilt angle 2</a:t>
            </a:r>
          </a:p>
        </p:txBody>
      </p:sp>
      <p:sp>
        <p:nvSpPr>
          <p:cNvPr id="15434" name="Oval 74"/>
          <p:cNvSpPr>
            <a:spLocks noChangeArrowheads="1"/>
          </p:cNvSpPr>
          <p:nvPr/>
        </p:nvSpPr>
        <p:spPr bwMode="auto">
          <a:xfrm>
            <a:off x="1905000" y="348615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5" name="Oval 75"/>
          <p:cNvSpPr>
            <a:spLocks noChangeArrowheads="1"/>
          </p:cNvSpPr>
          <p:nvPr/>
        </p:nvSpPr>
        <p:spPr bwMode="auto">
          <a:xfrm>
            <a:off x="1524000" y="377190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6" name="Oval 76"/>
          <p:cNvSpPr>
            <a:spLocks noChangeArrowheads="1"/>
          </p:cNvSpPr>
          <p:nvPr/>
        </p:nvSpPr>
        <p:spPr bwMode="auto">
          <a:xfrm>
            <a:off x="1905000" y="377190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7" name="Oval 77"/>
          <p:cNvSpPr>
            <a:spLocks noChangeArrowheads="1"/>
          </p:cNvSpPr>
          <p:nvPr/>
        </p:nvSpPr>
        <p:spPr bwMode="auto">
          <a:xfrm>
            <a:off x="1524000" y="320040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8" name="Oval 78"/>
          <p:cNvSpPr>
            <a:spLocks noChangeArrowheads="1"/>
          </p:cNvSpPr>
          <p:nvPr/>
        </p:nvSpPr>
        <p:spPr bwMode="auto">
          <a:xfrm>
            <a:off x="1905000" y="320040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39" name="Oval 79"/>
          <p:cNvSpPr>
            <a:spLocks noChangeArrowheads="1"/>
          </p:cNvSpPr>
          <p:nvPr/>
        </p:nvSpPr>
        <p:spPr bwMode="auto">
          <a:xfrm>
            <a:off x="1066800" y="320040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40" name="Oval 80"/>
          <p:cNvSpPr>
            <a:spLocks noChangeArrowheads="1"/>
          </p:cNvSpPr>
          <p:nvPr/>
        </p:nvSpPr>
        <p:spPr bwMode="auto">
          <a:xfrm>
            <a:off x="1066800" y="377190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41" name="Oval 81"/>
          <p:cNvSpPr>
            <a:spLocks noChangeArrowheads="1"/>
          </p:cNvSpPr>
          <p:nvPr/>
        </p:nvSpPr>
        <p:spPr bwMode="auto">
          <a:xfrm>
            <a:off x="1066800" y="348615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42" name="Oval 82"/>
          <p:cNvSpPr>
            <a:spLocks noChangeArrowheads="1"/>
          </p:cNvSpPr>
          <p:nvPr/>
        </p:nvSpPr>
        <p:spPr bwMode="auto">
          <a:xfrm>
            <a:off x="6629400" y="337185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43" name="Oval 83"/>
          <p:cNvSpPr>
            <a:spLocks noChangeArrowheads="1"/>
          </p:cNvSpPr>
          <p:nvPr/>
        </p:nvSpPr>
        <p:spPr bwMode="auto">
          <a:xfrm>
            <a:off x="6629400" y="365760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44" name="Oval 84"/>
          <p:cNvSpPr>
            <a:spLocks noChangeArrowheads="1"/>
          </p:cNvSpPr>
          <p:nvPr/>
        </p:nvSpPr>
        <p:spPr bwMode="auto">
          <a:xfrm>
            <a:off x="6629400" y="308610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45" name="Oval 85"/>
          <p:cNvSpPr>
            <a:spLocks noChangeArrowheads="1"/>
          </p:cNvSpPr>
          <p:nvPr/>
        </p:nvSpPr>
        <p:spPr bwMode="auto">
          <a:xfrm>
            <a:off x="5334000" y="337185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46" name="Oval 86"/>
          <p:cNvSpPr>
            <a:spLocks noChangeArrowheads="1"/>
          </p:cNvSpPr>
          <p:nvPr/>
        </p:nvSpPr>
        <p:spPr bwMode="auto">
          <a:xfrm>
            <a:off x="5334000" y="365760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47" name="Oval 87"/>
          <p:cNvSpPr>
            <a:spLocks noChangeArrowheads="1"/>
          </p:cNvSpPr>
          <p:nvPr/>
        </p:nvSpPr>
        <p:spPr bwMode="auto">
          <a:xfrm>
            <a:off x="5334000" y="308610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48" name="Oval 88"/>
          <p:cNvSpPr>
            <a:spLocks noChangeArrowheads="1"/>
          </p:cNvSpPr>
          <p:nvPr/>
        </p:nvSpPr>
        <p:spPr bwMode="auto">
          <a:xfrm>
            <a:off x="5791200" y="394335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49" name="Oval 89"/>
          <p:cNvSpPr>
            <a:spLocks noChangeArrowheads="1"/>
          </p:cNvSpPr>
          <p:nvPr/>
        </p:nvSpPr>
        <p:spPr bwMode="auto">
          <a:xfrm>
            <a:off x="6172200" y="394335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50" name="Oval 90"/>
          <p:cNvSpPr>
            <a:spLocks noChangeArrowheads="1"/>
          </p:cNvSpPr>
          <p:nvPr/>
        </p:nvSpPr>
        <p:spPr bwMode="auto">
          <a:xfrm>
            <a:off x="5334000" y="394335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51" name="Oval 91"/>
          <p:cNvSpPr>
            <a:spLocks noChangeArrowheads="1"/>
          </p:cNvSpPr>
          <p:nvPr/>
        </p:nvSpPr>
        <p:spPr bwMode="auto">
          <a:xfrm>
            <a:off x="5791200" y="308610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52" name="Oval 92"/>
          <p:cNvSpPr>
            <a:spLocks noChangeArrowheads="1"/>
          </p:cNvSpPr>
          <p:nvPr/>
        </p:nvSpPr>
        <p:spPr bwMode="auto">
          <a:xfrm>
            <a:off x="6172200" y="308610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53" name="Oval 93"/>
          <p:cNvSpPr>
            <a:spLocks noChangeArrowheads="1"/>
          </p:cNvSpPr>
          <p:nvPr/>
        </p:nvSpPr>
        <p:spPr bwMode="auto">
          <a:xfrm>
            <a:off x="6629400" y="3943350"/>
            <a:ext cx="152400" cy="1143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55" name="Oval 95"/>
          <p:cNvSpPr>
            <a:spLocks noChangeArrowheads="1"/>
          </p:cNvSpPr>
          <p:nvPr/>
        </p:nvSpPr>
        <p:spPr bwMode="auto">
          <a:xfrm>
            <a:off x="6629400" y="337185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56" name="Oval 96"/>
          <p:cNvSpPr>
            <a:spLocks noChangeArrowheads="1"/>
          </p:cNvSpPr>
          <p:nvPr/>
        </p:nvSpPr>
        <p:spPr bwMode="auto">
          <a:xfrm>
            <a:off x="6629400" y="3657600"/>
            <a:ext cx="152400" cy="114300"/>
          </a:xfrm>
          <a:prstGeom prst="ellipse">
            <a:avLst/>
          </a:prstGeom>
          <a:solidFill>
            <a:schemeClr val="tx1">
              <a:alpha val="22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457" name="Oval 97"/>
          <p:cNvSpPr>
            <a:spLocks noChangeArrowheads="1"/>
          </p:cNvSpPr>
          <p:nvPr/>
        </p:nvSpPr>
        <p:spPr bwMode="auto">
          <a:xfrm>
            <a:off x="6629400" y="308610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58" name="Oval 98"/>
          <p:cNvSpPr>
            <a:spLocks noChangeArrowheads="1"/>
          </p:cNvSpPr>
          <p:nvPr/>
        </p:nvSpPr>
        <p:spPr bwMode="auto">
          <a:xfrm>
            <a:off x="5334000" y="3371850"/>
            <a:ext cx="152400" cy="114300"/>
          </a:xfrm>
          <a:prstGeom prst="ellipse">
            <a:avLst/>
          </a:prstGeom>
          <a:solidFill>
            <a:srgbClr val="00CC99">
              <a:alpha val="22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59" name="Oval 99"/>
          <p:cNvSpPr>
            <a:spLocks noChangeArrowheads="1"/>
          </p:cNvSpPr>
          <p:nvPr/>
        </p:nvSpPr>
        <p:spPr bwMode="auto">
          <a:xfrm>
            <a:off x="5334000" y="3657600"/>
            <a:ext cx="152400" cy="114300"/>
          </a:xfrm>
          <a:prstGeom prst="ellipse">
            <a:avLst/>
          </a:prstGeom>
          <a:solidFill>
            <a:srgbClr val="00CC99">
              <a:alpha val="22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0" name="Oval 100"/>
          <p:cNvSpPr>
            <a:spLocks noChangeArrowheads="1"/>
          </p:cNvSpPr>
          <p:nvPr/>
        </p:nvSpPr>
        <p:spPr bwMode="auto">
          <a:xfrm>
            <a:off x="5334000" y="3086100"/>
            <a:ext cx="152400" cy="114300"/>
          </a:xfrm>
          <a:prstGeom prst="ellipse">
            <a:avLst/>
          </a:prstGeom>
          <a:solidFill>
            <a:srgbClr val="00CC99">
              <a:alpha val="22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1" name="Oval 101"/>
          <p:cNvSpPr>
            <a:spLocks noChangeArrowheads="1"/>
          </p:cNvSpPr>
          <p:nvPr/>
        </p:nvSpPr>
        <p:spPr bwMode="auto">
          <a:xfrm>
            <a:off x="5791200" y="394335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2" name="Oval 102"/>
          <p:cNvSpPr>
            <a:spLocks noChangeArrowheads="1"/>
          </p:cNvSpPr>
          <p:nvPr/>
        </p:nvSpPr>
        <p:spPr bwMode="auto">
          <a:xfrm>
            <a:off x="6172200" y="394335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3" name="Oval 103"/>
          <p:cNvSpPr>
            <a:spLocks noChangeArrowheads="1"/>
          </p:cNvSpPr>
          <p:nvPr/>
        </p:nvSpPr>
        <p:spPr bwMode="auto">
          <a:xfrm>
            <a:off x="5334000" y="3943350"/>
            <a:ext cx="152400" cy="114300"/>
          </a:xfrm>
          <a:prstGeom prst="ellipse">
            <a:avLst/>
          </a:prstGeom>
          <a:solidFill>
            <a:srgbClr val="00CC99">
              <a:alpha val="22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4" name="Oval 104"/>
          <p:cNvSpPr>
            <a:spLocks noChangeArrowheads="1"/>
          </p:cNvSpPr>
          <p:nvPr/>
        </p:nvSpPr>
        <p:spPr bwMode="auto">
          <a:xfrm>
            <a:off x="5791200" y="308610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5" name="Oval 105"/>
          <p:cNvSpPr>
            <a:spLocks noChangeArrowheads="1"/>
          </p:cNvSpPr>
          <p:nvPr/>
        </p:nvSpPr>
        <p:spPr bwMode="auto">
          <a:xfrm>
            <a:off x="6172200" y="308610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6" name="Oval 106"/>
          <p:cNvSpPr>
            <a:spLocks noChangeArrowheads="1"/>
          </p:cNvSpPr>
          <p:nvPr/>
        </p:nvSpPr>
        <p:spPr bwMode="auto">
          <a:xfrm>
            <a:off x="6629400" y="3943350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" name="Oval 98"/>
          <p:cNvSpPr>
            <a:spLocks noChangeArrowheads="1"/>
          </p:cNvSpPr>
          <p:nvPr/>
        </p:nvSpPr>
        <p:spPr bwMode="auto">
          <a:xfrm>
            <a:off x="5341414" y="3379899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Oval 99"/>
          <p:cNvSpPr>
            <a:spLocks noChangeArrowheads="1"/>
          </p:cNvSpPr>
          <p:nvPr/>
        </p:nvSpPr>
        <p:spPr bwMode="auto">
          <a:xfrm>
            <a:off x="5341414" y="3665649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Oval 100"/>
          <p:cNvSpPr>
            <a:spLocks noChangeArrowheads="1"/>
          </p:cNvSpPr>
          <p:nvPr/>
        </p:nvSpPr>
        <p:spPr bwMode="auto">
          <a:xfrm>
            <a:off x="5341414" y="3094149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Oval 103"/>
          <p:cNvSpPr>
            <a:spLocks noChangeArrowheads="1"/>
          </p:cNvSpPr>
          <p:nvPr/>
        </p:nvSpPr>
        <p:spPr bwMode="auto">
          <a:xfrm>
            <a:off x="5341414" y="3951399"/>
            <a:ext cx="152400" cy="1143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2324100" y="857250"/>
            <a:ext cx="393342" cy="2857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819400" y="615733"/>
            <a:ext cx="1675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Envelope determined </a:t>
            </a:r>
          </a:p>
          <a:p>
            <a:r>
              <a:rPr lang="en-US" sz="1200" dirty="0"/>
              <a:t>by pixel mirror shape</a:t>
            </a:r>
          </a:p>
          <a:p>
            <a:r>
              <a:rPr lang="en-US" sz="1200" dirty="0"/>
              <a:t>and tilt angle</a:t>
            </a:r>
          </a:p>
        </p:txBody>
      </p:sp>
    </p:spTree>
    <p:extLst>
      <p:ext uri="{BB962C8B-B14F-4D97-AF65-F5344CB8AC3E}">
        <p14:creationId xmlns:p14="http://schemas.microsoft.com/office/powerpoint/2010/main" val="201704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 bwMode="auto">
          <a:xfrm>
            <a:off x="413136" y="45041"/>
            <a:ext cx="7988446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153A3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153A3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153A3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153A3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153A3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153A3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153A3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153A3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2153A3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>
                <a:solidFill>
                  <a:schemeClr val="accent1"/>
                </a:solidFill>
                <a:latin typeface="Arial"/>
              </a:rPr>
              <a:t>Diffraction Modeling of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Broadband </a:t>
            </a:r>
            <a:r>
              <a:rPr lang="en-US" kern="0" dirty="0">
                <a:solidFill>
                  <a:schemeClr val="accent1"/>
                </a:solidFill>
                <a:latin typeface="Arial"/>
              </a:rPr>
              <a:t>E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xtended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 </a:t>
            </a:r>
            <a:r>
              <a:rPr lang="en-US" kern="0" dirty="0">
                <a:solidFill>
                  <a:schemeClr val="accent1"/>
                </a:solidFill>
                <a:latin typeface="Arial"/>
              </a:rPr>
              <a:t>S</a:t>
            </a: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ources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sp>
        <p:nvSpPr>
          <p:cNvPr id="5" name="Oval 4"/>
          <p:cNvSpPr/>
          <p:nvPr/>
        </p:nvSpPr>
        <p:spPr>
          <a:xfrm rot="20455018">
            <a:off x="6395866" y="1623257"/>
            <a:ext cx="914400" cy="1885950"/>
          </a:xfrm>
          <a:prstGeom prst="ellipse">
            <a:avLst/>
          </a:prstGeom>
          <a:noFill/>
          <a:ln w="25400" cap="flat" cmpd="sng" algn="ctr">
            <a:solidFill>
              <a:srgbClr val="AAAAA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>
            <a:stCxn id="5" idx="0"/>
          </p:cNvCxnSpPr>
          <p:nvPr/>
        </p:nvCxnSpPr>
        <p:spPr>
          <a:xfrm flipH="1">
            <a:off x="3200401" y="1675078"/>
            <a:ext cx="3241607" cy="1582472"/>
          </a:xfrm>
          <a:prstGeom prst="line">
            <a:avLst/>
          </a:prstGeom>
          <a:noFill/>
          <a:ln w="9525" cap="flat" cmpd="sng" algn="ctr">
            <a:solidFill>
              <a:srgbClr val="AAAAAA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7" name="Straight Connector 6"/>
          <p:cNvCxnSpPr>
            <a:stCxn id="5" idx="4"/>
          </p:cNvCxnSpPr>
          <p:nvPr/>
        </p:nvCxnSpPr>
        <p:spPr>
          <a:xfrm flipH="1">
            <a:off x="3200401" y="3457387"/>
            <a:ext cx="4063725" cy="112107"/>
          </a:xfrm>
          <a:prstGeom prst="line">
            <a:avLst/>
          </a:prstGeom>
          <a:noFill/>
          <a:ln w="9525" cap="flat" cmpd="sng" algn="ctr">
            <a:solidFill>
              <a:srgbClr val="AAAAAA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8" name="Oval 7"/>
          <p:cNvSpPr/>
          <p:nvPr/>
        </p:nvSpPr>
        <p:spPr>
          <a:xfrm rot="16200000">
            <a:off x="2181960" y="1229322"/>
            <a:ext cx="342900" cy="1676400"/>
          </a:xfrm>
          <a:prstGeom prst="ellipse">
            <a:avLst/>
          </a:prstGeom>
          <a:noFill/>
          <a:ln w="25400" cap="flat" cmpd="sng" algn="ctr">
            <a:solidFill>
              <a:srgbClr val="AAAAA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>
            <a:cxnSpLocks/>
            <a:stCxn id="8" idx="4"/>
          </p:cNvCxnSpPr>
          <p:nvPr/>
        </p:nvCxnSpPr>
        <p:spPr>
          <a:xfrm flipH="1">
            <a:off x="2514600" y="2067522"/>
            <a:ext cx="677010" cy="1018578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8" idx="0"/>
          </p:cNvCxnSpPr>
          <p:nvPr/>
        </p:nvCxnSpPr>
        <p:spPr>
          <a:xfrm>
            <a:off x="1515211" y="2067522"/>
            <a:ext cx="727321" cy="1018578"/>
          </a:xfrm>
          <a:prstGeom prst="line">
            <a:avLst/>
          </a:prstGeom>
          <a:noFill/>
          <a:ln w="9525" cap="flat" cmpd="sng" algn="ctr">
            <a:solidFill>
              <a:srgbClr val="AAAAAA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1" name="Rectangle 10"/>
          <p:cNvSpPr/>
          <p:nvPr/>
        </p:nvSpPr>
        <p:spPr>
          <a:xfrm rot="19077239">
            <a:off x="1611729" y="903600"/>
            <a:ext cx="1300574" cy="34289"/>
          </a:xfrm>
          <a:prstGeom prst="rect">
            <a:avLst/>
          </a:prstGeom>
          <a:solidFill>
            <a:srgbClr val="AAAAAA"/>
          </a:solidFill>
          <a:ln w="25400" cap="flat" cmpd="sng" algn="ctr">
            <a:solidFill>
              <a:srgbClr val="AAAAA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Cube 11"/>
          <p:cNvSpPr/>
          <p:nvPr/>
        </p:nvSpPr>
        <p:spPr>
          <a:xfrm rot="21340975">
            <a:off x="3733798" y="549373"/>
            <a:ext cx="706403" cy="1210271"/>
          </a:xfrm>
          <a:prstGeom prst="cube">
            <a:avLst>
              <a:gd name="adj" fmla="val 85408"/>
            </a:avLst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rgbClr val="AAAAAA">
                <a:shade val="50000"/>
              </a:srgbClr>
            </a:solidFill>
            <a:prstDash val="solid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" name="Straight Connector 12"/>
          <p:cNvCxnSpPr>
            <a:stCxn id="8" idx="4"/>
          </p:cNvCxnSpPr>
          <p:nvPr/>
        </p:nvCxnSpPr>
        <p:spPr>
          <a:xfrm flipH="1" flipV="1">
            <a:off x="2514600" y="800100"/>
            <a:ext cx="677010" cy="1267422"/>
          </a:xfrm>
          <a:prstGeom prst="line">
            <a:avLst/>
          </a:prstGeom>
          <a:noFill/>
          <a:ln w="9525" cap="flat" cmpd="sng" algn="ctr">
            <a:solidFill>
              <a:srgbClr val="AAAAAA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4" name="Straight Connector 13"/>
          <p:cNvCxnSpPr>
            <a:stCxn id="8" idx="0"/>
          </p:cNvCxnSpPr>
          <p:nvPr/>
        </p:nvCxnSpPr>
        <p:spPr>
          <a:xfrm flipV="1">
            <a:off x="1515210" y="1028700"/>
            <a:ext cx="618390" cy="1038822"/>
          </a:xfrm>
          <a:prstGeom prst="line">
            <a:avLst/>
          </a:prstGeom>
          <a:noFill/>
          <a:ln w="9525" cap="flat" cmpd="sng" algn="ctr">
            <a:solidFill>
              <a:srgbClr val="AAAAAA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5" name="Straight Connector 14"/>
          <p:cNvCxnSpPr/>
          <p:nvPr/>
        </p:nvCxnSpPr>
        <p:spPr>
          <a:xfrm>
            <a:off x="2133600" y="1028700"/>
            <a:ext cx="1828800" cy="88256"/>
          </a:xfrm>
          <a:prstGeom prst="line">
            <a:avLst/>
          </a:prstGeom>
          <a:noFill/>
          <a:ln w="9525" cap="flat" cmpd="sng" algn="ctr">
            <a:solidFill>
              <a:srgbClr val="AAAAAA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6" name="Straight Connector 15"/>
          <p:cNvCxnSpPr/>
          <p:nvPr/>
        </p:nvCxnSpPr>
        <p:spPr>
          <a:xfrm flipH="1" flipV="1">
            <a:off x="2514600" y="800100"/>
            <a:ext cx="1544966" cy="316856"/>
          </a:xfrm>
          <a:prstGeom prst="line">
            <a:avLst/>
          </a:prstGeom>
          <a:noFill/>
          <a:ln w="9525" cap="flat" cmpd="sng" algn="ctr">
            <a:solidFill>
              <a:srgbClr val="AAAAAA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7325618" y="857586"/>
            <a:ext cx="836470" cy="680570"/>
            <a:chOff x="7804556" y="706218"/>
            <a:chExt cx="685799" cy="772766"/>
          </a:xfrm>
        </p:grpSpPr>
        <p:cxnSp>
          <p:nvCxnSpPr>
            <p:cNvPr id="18" name="Straight Arrow Connector 17"/>
            <p:cNvCxnSpPr/>
            <p:nvPr/>
          </p:nvCxnSpPr>
          <p:spPr>
            <a:xfrm flipH="1">
              <a:off x="7804556" y="923748"/>
              <a:ext cx="685799" cy="452491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</p:cxnSp>
        <p:sp>
          <p:nvSpPr>
            <p:cNvPr id="19" name="Freeform 18"/>
            <p:cNvSpPr/>
            <p:nvPr/>
          </p:nvSpPr>
          <p:spPr>
            <a:xfrm>
              <a:off x="8001628" y="706218"/>
              <a:ext cx="381816" cy="772766"/>
            </a:xfrm>
            <a:custGeom>
              <a:avLst/>
              <a:gdLst>
                <a:gd name="connsiteX0" fmla="*/ 397056 w 397056"/>
                <a:gd name="connsiteY0" fmla="*/ 246311 h 772766"/>
                <a:gd name="connsiteX1" fmla="*/ 31296 w 397056"/>
                <a:gd name="connsiteY1" fmla="*/ 2471 h 772766"/>
                <a:gd name="connsiteX2" fmla="*/ 189792 w 397056"/>
                <a:gd name="connsiteY2" fmla="*/ 380423 h 772766"/>
                <a:gd name="connsiteX3" fmla="*/ 336096 w 397056"/>
                <a:gd name="connsiteY3" fmla="*/ 770567 h 772766"/>
                <a:gd name="connsiteX4" fmla="*/ 43488 w 397056"/>
                <a:gd name="connsiteY4" fmla="*/ 538919 h 772766"/>
                <a:gd name="connsiteX5" fmla="*/ 6912 w 397056"/>
                <a:gd name="connsiteY5" fmla="*/ 538919 h 77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056" h="772766">
                  <a:moveTo>
                    <a:pt x="397056" y="246311"/>
                  </a:moveTo>
                  <a:cubicBezTo>
                    <a:pt x="231448" y="113215"/>
                    <a:pt x="65840" y="-19881"/>
                    <a:pt x="31296" y="2471"/>
                  </a:cubicBezTo>
                  <a:cubicBezTo>
                    <a:pt x="-3248" y="24823"/>
                    <a:pt x="138992" y="252407"/>
                    <a:pt x="189792" y="380423"/>
                  </a:cubicBezTo>
                  <a:cubicBezTo>
                    <a:pt x="240592" y="508439"/>
                    <a:pt x="360480" y="744151"/>
                    <a:pt x="336096" y="770567"/>
                  </a:cubicBezTo>
                  <a:cubicBezTo>
                    <a:pt x="311712" y="796983"/>
                    <a:pt x="98352" y="577527"/>
                    <a:pt x="43488" y="538919"/>
                  </a:cubicBezTo>
                  <a:cubicBezTo>
                    <a:pt x="-11376" y="500311"/>
                    <a:pt x="-2232" y="519615"/>
                    <a:pt x="6912" y="538919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705752" y="1480434"/>
            <a:ext cx="792509" cy="680570"/>
            <a:chOff x="7010402" y="1044054"/>
            <a:chExt cx="685799" cy="772766"/>
          </a:xfrm>
        </p:grpSpPr>
        <p:cxnSp>
          <p:nvCxnSpPr>
            <p:cNvPr id="21" name="Straight Arrow Connector 20"/>
            <p:cNvCxnSpPr/>
            <p:nvPr/>
          </p:nvCxnSpPr>
          <p:spPr>
            <a:xfrm flipH="1">
              <a:off x="7010402" y="1227658"/>
              <a:ext cx="685799" cy="452492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</p:cxnSp>
        <p:sp>
          <p:nvSpPr>
            <p:cNvPr id="22" name="Freeform 21"/>
            <p:cNvSpPr/>
            <p:nvPr/>
          </p:nvSpPr>
          <p:spPr>
            <a:xfrm>
              <a:off x="7264125" y="1044054"/>
              <a:ext cx="381816" cy="772766"/>
            </a:xfrm>
            <a:custGeom>
              <a:avLst/>
              <a:gdLst>
                <a:gd name="connsiteX0" fmla="*/ 397056 w 397056"/>
                <a:gd name="connsiteY0" fmla="*/ 246311 h 772766"/>
                <a:gd name="connsiteX1" fmla="*/ 31296 w 397056"/>
                <a:gd name="connsiteY1" fmla="*/ 2471 h 772766"/>
                <a:gd name="connsiteX2" fmla="*/ 189792 w 397056"/>
                <a:gd name="connsiteY2" fmla="*/ 380423 h 772766"/>
                <a:gd name="connsiteX3" fmla="*/ 336096 w 397056"/>
                <a:gd name="connsiteY3" fmla="*/ 770567 h 772766"/>
                <a:gd name="connsiteX4" fmla="*/ 43488 w 397056"/>
                <a:gd name="connsiteY4" fmla="*/ 538919 h 772766"/>
                <a:gd name="connsiteX5" fmla="*/ 6912 w 397056"/>
                <a:gd name="connsiteY5" fmla="*/ 538919 h 77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056" h="772766">
                  <a:moveTo>
                    <a:pt x="397056" y="246311"/>
                  </a:moveTo>
                  <a:cubicBezTo>
                    <a:pt x="231448" y="113215"/>
                    <a:pt x="65840" y="-19881"/>
                    <a:pt x="31296" y="2471"/>
                  </a:cubicBezTo>
                  <a:cubicBezTo>
                    <a:pt x="-3248" y="24823"/>
                    <a:pt x="138992" y="252407"/>
                    <a:pt x="189792" y="380423"/>
                  </a:cubicBezTo>
                  <a:cubicBezTo>
                    <a:pt x="240592" y="508439"/>
                    <a:pt x="360480" y="744151"/>
                    <a:pt x="336096" y="770567"/>
                  </a:cubicBezTo>
                  <a:cubicBezTo>
                    <a:pt x="311712" y="796983"/>
                    <a:pt x="98352" y="577527"/>
                    <a:pt x="43488" y="538919"/>
                  </a:cubicBezTo>
                  <a:cubicBezTo>
                    <a:pt x="-11376" y="500311"/>
                    <a:pt x="-2232" y="519615"/>
                    <a:pt x="6912" y="538919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8108380" y="2067521"/>
            <a:ext cx="792509" cy="821864"/>
            <a:chOff x="7010402" y="1044054"/>
            <a:chExt cx="685799" cy="772766"/>
          </a:xfrm>
        </p:grpSpPr>
        <p:cxnSp>
          <p:nvCxnSpPr>
            <p:cNvPr id="24" name="Straight Arrow Connector 23"/>
            <p:cNvCxnSpPr/>
            <p:nvPr/>
          </p:nvCxnSpPr>
          <p:spPr>
            <a:xfrm flipH="1">
              <a:off x="7010402" y="1227658"/>
              <a:ext cx="685799" cy="452492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</p:cxnSp>
        <p:sp>
          <p:nvSpPr>
            <p:cNvPr id="25" name="Freeform 24"/>
            <p:cNvSpPr/>
            <p:nvPr/>
          </p:nvSpPr>
          <p:spPr>
            <a:xfrm>
              <a:off x="7264125" y="1044054"/>
              <a:ext cx="381816" cy="772766"/>
            </a:xfrm>
            <a:custGeom>
              <a:avLst/>
              <a:gdLst>
                <a:gd name="connsiteX0" fmla="*/ 397056 w 397056"/>
                <a:gd name="connsiteY0" fmla="*/ 246311 h 772766"/>
                <a:gd name="connsiteX1" fmla="*/ 31296 w 397056"/>
                <a:gd name="connsiteY1" fmla="*/ 2471 h 772766"/>
                <a:gd name="connsiteX2" fmla="*/ 189792 w 397056"/>
                <a:gd name="connsiteY2" fmla="*/ 380423 h 772766"/>
                <a:gd name="connsiteX3" fmla="*/ 336096 w 397056"/>
                <a:gd name="connsiteY3" fmla="*/ 770567 h 772766"/>
                <a:gd name="connsiteX4" fmla="*/ 43488 w 397056"/>
                <a:gd name="connsiteY4" fmla="*/ 538919 h 772766"/>
                <a:gd name="connsiteX5" fmla="*/ 6912 w 397056"/>
                <a:gd name="connsiteY5" fmla="*/ 538919 h 77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056" h="772766">
                  <a:moveTo>
                    <a:pt x="397056" y="246311"/>
                  </a:moveTo>
                  <a:cubicBezTo>
                    <a:pt x="231448" y="113215"/>
                    <a:pt x="65840" y="-19881"/>
                    <a:pt x="31296" y="2471"/>
                  </a:cubicBezTo>
                  <a:cubicBezTo>
                    <a:pt x="-3248" y="24823"/>
                    <a:pt x="138992" y="252407"/>
                    <a:pt x="189792" y="380423"/>
                  </a:cubicBezTo>
                  <a:cubicBezTo>
                    <a:pt x="240592" y="508439"/>
                    <a:pt x="360480" y="744151"/>
                    <a:pt x="336096" y="770567"/>
                  </a:cubicBezTo>
                  <a:cubicBezTo>
                    <a:pt x="311712" y="796983"/>
                    <a:pt x="98352" y="577527"/>
                    <a:pt x="43488" y="538919"/>
                  </a:cubicBezTo>
                  <a:cubicBezTo>
                    <a:pt x="-11376" y="500311"/>
                    <a:pt x="-2232" y="519615"/>
                    <a:pt x="6912" y="538919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541934" y="1334017"/>
            <a:ext cx="685799" cy="579575"/>
            <a:chOff x="7010402" y="1044054"/>
            <a:chExt cx="685799" cy="772766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7010402" y="1227658"/>
              <a:ext cx="685799" cy="452492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tailEnd type="arrow"/>
            </a:ln>
            <a:effectLst/>
          </p:spPr>
        </p:cxnSp>
        <p:sp>
          <p:nvSpPr>
            <p:cNvPr id="28" name="Freeform 27"/>
            <p:cNvSpPr/>
            <p:nvPr/>
          </p:nvSpPr>
          <p:spPr>
            <a:xfrm>
              <a:off x="7264125" y="1044054"/>
              <a:ext cx="381816" cy="772766"/>
            </a:xfrm>
            <a:custGeom>
              <a:avLst/>
              <a:gdLst>
                <a:gd name="connsiteX0" fmla="*/ 397056 w 397056"/>
                <a:gd name="connsiteY0" fmla="*/ 246311 h 772766"/>
                <a:gd name="connsiteX1" fmla="*/ 31296 w 397056"/>
                <a:gd name="connsiteY1" fmla="*/ 2471 h 772766"/>
                <a:gd name="connsiteX2" fmla="*/ 189792 w 397056"/>
                <a:gd name="connsiteY2" fmla="*/ 380423 h 772766"/>
                <a:gd name="connsiteX3" fmla="*/ 336096 w 397056"/>
                <a:gd name="connsiteY3" fmla="*/ 770567 h 772766"/>
                <a:gd name="connsiteX4" fmla="*/ 43488 w 397056"/>
                <a:gd name="connsiteY4" fmla="*/ 538919 h 772766"/>
                <a:gd name="connsiteX5" fmla="*/ 6912 w 397056"/>
                <a:gd name="connsiteY5" fmla="*/ 538919 h 77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056" h="772766">
                  <a:moveTo>
                    <a:pt x="397056" y="246311"/>
                  </a:moveTo>
                  <a:cubicBezTo>
                    <a:pt x="231448" y="113215"/>
                    <a:pt x="65840" y="-19881"/>
                    <a:pt x="31296" y="2471"/>
                  </a:cubicBezTo>
                  <a:cubicBezTo>
                    <a:pt x="-3248" y="24823"/>
                    <a:pt x="138992" y="252407"/>
                    <a:pt x="189792" y="380423"/>
                  </a:cubicBezTo>
                  <a:cubicBezTo>
                    <a:pt x="240592" y="508439"/>
                    <a:pt x="360480" y="744151"/>
                    <a:pt x="336096" y="770567"/>
                  </a:cubicBezTo>
                  <a:cubicBezTo>
                    <a:pt x="311712" y="796983"/>
                    <a:pt x="98352" y="577527"/>
                    <a:pt x="43488" y="538919"/>
                  </a:cubicBezTo>
                  <a:cubicBezTo>
                    <a:pt x="-11376" y="500311"/>
                    <a:pt x="-2232" y="519615"/>
                    <a:pt x="6912" y="538919"/>
                  </a:cubicBezTo>
                </a:path>
              </a:pathLst>
            </a:custGeom>
            <a:noFill/>
            <a:ln w="25400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860835" y="2018201"/>
            <a:ext cx="685799" cy="579575"/>
            <a:chOff x="7010402" y="1044054"/>
            <a:chExt cx="685799" cy="772766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7010402" y="1227658"/>
              <a:ext cx="685799" cy="452492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tailEnd type="arrow"/>
            </a:ln>
            <a:effectLst/>
          </p:spPr>
        </p:cxnSp>
        <p:sp>
          <p:nvSpPr>
            <p:cNvPr id="31" name="Freeform 30"/>
            <p:cNvSpPr/>
            <p:nvPr/>
          </p:nvSpPr>
          <p:spPr>
            <a:xfrm>
              <a:off x="7264125" y="1044054"/>
              <a:ext cx="381816" cy="772766"/>
            </a:xfrm>
            <a:custGeom>
              <a:avLst/>
              <a:gdLst>
                <a:gd name="connsiteX0" fmla="*/ 397056 w 397056"/>
                <a:gd name="connsiteY0" fmla="*/ 246311 h 772766"/>
                <a:gd name="connsiteX1" fmla="*/ 31296 w 397056"/>
                <a:gd name="connsiteY1" fmla="*/ 2471 h 772766"/>
                <a:gd name="connsiteX2" fmla="*/ 189792 w 397056"/>
                <a:gd name="connsiteY2" fmla="*/ 380423 h 772766"/>
                <a:gd name="connsiteX3" fmla="*/ 336096 w 397056"/>
                <a:gd name="connsiteY3" fmla="*/ 770567 h 772766"/>
                <a:gd name="connsiteX4" fmla="*/ 43488 w 397056"/>
                <a:gd name="connsiteY4" fmla="*/ 538919 h 772766"/>
                <a:gd name="connsiteX5" fmla="*/ 6912 w 397056"/>
                <a:gd name="connsiteY5" fmla="*/ 538919 h 77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056" h="772766">
                  <a:moveTo>
                    <a:pt x="397056" y="246311"/>
                  </a:moveTo>
                  <a:cubicBezTo>
                    <a:pt x="231448" y="113215"/>
                    <a:pt x="65840" y="-19881"/>
                    <a:pt x="31296" y="2471"/>
                  </a:cubicBezTo>
                  <a:cubicBezTo>
                    <a:pt x="-3248" y="24823"/>
                    <a:pt x="138992" y="252407"/>
                    <a:pt x="189792" y="380423"/>
                  </a:cubicBezTo>
                  <a:cubicBezTo>
                    <a:pt x="240592" y="508439"/>
                    <a:pt x="360480" y="744151"/>
                    <a:pt x="336096" y="770567"/>
                  </a:cubicBezTo>
                  <a:cubicBezTo>
                    <a:pt x="311712" y="796983"/>
                    <a:pt x="98352" y="577527"/>
                    <a:pt x="43488" y="538919"/>
                  </a:cubicBezTo>
                  <a:cubicBezTo>
                    <a:pt x="-11376" y="500311"/>
                    <a:pt x="-2232" y="519615"/>
                    <a:pt x="6912" y="538919"/>
                  </a:cubicBezTo>
                </a:path>
              </a:pathLst>
            </a:custGeom>
            <a:noFill/>
            <a:ln w="25400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154100" y="2709945"/>
            <a:ext cx="685799" cy="579575"/>
            <a:chOff x="7010402" y="1044054"/>
            <a:chExt cx="685799" cy="772766"/>
          </a:xfrm>
        </p:grpSpPr>
        <p:cxnSp>
          <p:nvCxnSpPr>
            <p:cNvPr id="33" name="Straight Arrow Connector 32"/>
            <p:cNvCxnSpPr/>
            <p:nvPr/>
          </p:nvCxnSpPr>
          <p:spPr>
            <a:xfrm flipH="1">
              <a:off x="7010402" y="1227658"/>
              <a:ext cx="685799" cy="452492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tailEnd type="arrow"/>
            </a:ln>
            <a:effectLst/>
          </p:spPr>
        </p:cxnSp>
        <p:sp>
          <p:nvSpPr>
            <p:cNvPr id="34" name="Freeform 33"/>
            <p:cNvSpPr/>
            <p:nvPr/>
          </p:nvSpPr>
          <p:spPr>
            <a:xfrm>
              <a:off x="7264125" y="1044054"/>
              <a:ext cx="381816" cy="772766"/>
            </a:xfrm>
            <a:custGeom>
              <a:avLst/>
              <a:gdLst>
                <a:gd name="connsiteX0" fmla="*/ 397056 w 397056"/>
                <a:gd name="connsiteY0" fmla="*/ 246311 h 772766"/>
                <a:gd name="connsiteX1" fmla="*/ 31296 w 397056"/>
                <a:gd name="connsiteY1" fmla="*/ 2471 h 772766"/>
                <a:gd name="connsiteX2" fmla="*/ 189792 w 397056"/>
                <a:gd name="connsiteY2" fmla="*/ 380423 h 772766"/>
                <a:gd name="connsiteX3" fmla="*/ 336096 w 397056"/>
                <a:gd name="connsiteY3" fmla="*/ 770567 h 772766"/>
                <a:gd name="connsiteX4" fmla="*/ 43488 w 397056"/>
                <a:gd name="connsiteY4" fmla="*/ 538919 h 772766"/>
                <a:gd name="connsiteX5" fmla="*/ 6912 w 397056"/>
                <a:gd name="connsiteY5" fmla="*/ 538919 h 77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056" h="772766">
                  <a:moveTo>
                    <a:pt x="397056" y="246311"/>
                  </a:moveTo>
                  <a:cubicBezTo>
                    <a:pt x="231448" y="113215"/>
                    <a:pt x="65840" y="-19881"/>
                    <a:pt x="31296" y="2471"/>
                  </a:cubicBezTo>
                  <a:cubicBezTo>
                    <a:pt x="-3248" y="24823"/>
                    <a:pt x="138992" y="252407"/>
                    <a:pt x="189792" y="380423"/>
                  </a:cubicBezTo>
                  <a:cubicBezTo>
                    <a:pt x="240592" y="508439"/>
                    <a:pt x="360480" y="744151"/>
                    <a:pt x="336096" y="770567"/>
                  </a:cubicBezTo>
                  <a:cubicBezTo>
                    <a:pt x="311712" y="796983"/>
                    <a:pt x="98352" y="577527"/>
                    <a:pt x="43488" y="538919"/>
                  </a:cubicBezTo>
                  <a:cubicBezTo>
                    <a:pt x="-11376" y="500311"/>
                    <a:pt x="-2232" y="519615"/>
                    <a:pt x="6912" y="538919"/>
                  </a:cubicBezTo>
                </a:path>
              </a:pathLst>
            </a:custGeom>
            <a:noFill/>
            <a:ln w="25400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744375" y="1838422"/>
            <a:ext cx="685799" cy="458198"/>
            <a:chOff x="5763909" y="2539589"/>
            <a:chExt cx="685799" cy="610931"/>
          </a:xfrm>
        </p:grpSpPr>
        <p:cxnSp>
          <p:nvCxnSpPr>
            <p:cNvPr id="36" name="Straight Arrow Connector 35"/>
            <p:cNvCxnSpPr/>
            <p:nvPr/>
          </p:nvCxnSpPr>
          <p:spPr>
            <a:xfrm flipH="1">
              <a:off x="5763909" y="2612073"/>
              <a:ext cx="685799" cy="538447"/>
            </a:xfrm>
            <a:prstGeom prst="straightConnector1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tailEnd type="arrow"/>
            </a:ln>
            <a:effectLst/>
          </p:spPr>
        </p:cxnSp>
        <p:sp>
          <p:nvSpPr>
            <p:cNvPr id="37" name="Freeform 36"/>
            <p:cNvSpPr/>
            <p:nvPr/>
          </p:nvSpPr>
          <p:spPr>
            <a:xfrm>
              <a:off x="6033262" y="2539589"/>
              <a:ext cx="341376" cy="561603"/>
            </a:xfrm>
            <a:custGeom>
              <a:avLst/>
              <a:gdLst>
                <a:gd name="connsiteX0" fmla="*/ 341376 w 341376"/>
                <a:gd name="connsiteY0" fmla="*/ 143563 h 561603"/>
                <a:gd name="connsiteX1" fmla="*/ 243840 w 341376"/>
                <a:gd name="connsiteY1" fmla="*/ 21643 h 561603"/>
                <a:gd name="connsiteX2" fmla="*/ 85344 w 341376"/>
                <a:gd name="connsiteY2" fmla="*/ 533707 h 561603"/>
                <a:gd name="connsiteX3" fmla="*/ 0 w 341376"/>
                <a:gd name="connsiteY3" fmla="*/ 448363 h 561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376" h="561603">
                  <a:moveTo>
                    <a:pt x="341376" y="143563"/>
                  </a:moveTo>
                  <a:cubicBezTo>
                    <a:pt x="313944" y="50091"/>
                    <a:pt x="286512" y="-43381"/>
                    <a:pt x="243840" y="21643"/>
                  </a:cubicBezTo>
                  <a:cubicBezTo>
                    <a:pt x="201168" y="86667"/>
                    <a:pt x="125984" y="462587"/>
                    <a:pt x="85344" y="533707"/>
                  </a:cubicBezTo>
                  <a:cubicBezTo>
                    <a:pt x="44704" y="604827"/>
                    <a:pt x="22352" y="526595"/>
                    <a:pt x="0" y="448363"/>
                  </a:cubicBezTo>
                </a:path>
              </a:pathLst>
            </a:cu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309999" y="771257"/>
            <a:ext cx="1180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wavelengths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6195" y="2599408"/>
            <a:ext cx="1340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Pupil positions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6022143" y="2463014"/>
            <a:ext cx="685799" cy="458198"/>
            <a:chOff x="5763909" y="2539589"/>
            <a:chExt cx="685799" cy="610931"/>
          </a:xfrm>
        </p:grpSpPr>
        <p:cxnSp>
          <p:nvCxnSpPr>
            <p:cNvPr id="43" name="Straight Arrow Connector 42"/>
            <p:cNvCxnSpPr/>
            <p:nvPr/>
          </p:nvCxnSpPr>
          <p:spPr>
            <a:xfrm flipH="1">
              <a:off x="5763909" y="2612073"/>
              <a:ext cx="685799" cy="538447"/>
            </a:xfrm>
            <a:prstGeom prst="straightConnector1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tailEnd type="arrow"/>
            </a:ln>
            <a:effectLst/>
          </p:spPr>
        </p:cxnSp>
        <p:sp>
          <p:nvSpPr>
            <p:cNvPr id="44" name="Freeform 43"/>
            <p:cNvSpPr/>
            <p:nvPr/>
          </p:nvSpPr>
          <p:spPr>
            <a:xfrm>
              <a:off x="6033262" y="2539589"/>
              <a:ext cx="341376" cy="561603"/>
            </a:xfrm>
            <a:custGeom>
              <a:avLst/>
              <a:gdLst>
                <a:gd name="connsiteX0" fmla="*/ 341376 w 341376"/>
                <a:gd name="connsiteY0" fmla="*/ 143563 h 561603"/>
                <a:gd name="connsiteX1" fmla="*/ 243840 w 341376"/>
                <a:gd name="connsiteY1" fmla="*/ 21643 h 561603"/>
                <a:gd name="connsiteX2" fmla="*/ 85344 w 341376"/>
                <a:gd name="connsiteY2" fmla="*/ 533707 h 561603"/>
                <a:gd name="connsiteX3" fmla="*/ 0 w 341376"/>
                <a:gd name="connsiteY3" fmla="*/ 448363 h 561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376" h="561603">
                  <a:moveTo>
                    <a:pt x="341376" y="143563"/>
                  </a:moveTo>
                  <a:cubicBezTo>
                    <a:pt x="313944" y="50091"/>
                    <a:pt x="286512" y="-43381"/>
                    <a:pt x="243840" y="21643"/>
                  </a:cubicBezTo>
                  <a:cubicBezTo>
                    <a:pt x="201168" y="86667"/>
                    <a:pt x="125984" y="462587"/>
                    <a:pt x="85344" y="533707"/>
                  </a:cubicBezTo>
                  <a:cubicBezTo>
                    <a:pt x="44704" y="604827"/>
                    <a:pt x="22352" y="526595"/>
                    <a:pt x="0" y="448363"/>
                  </a:cubicBezTo>
                </a:path>
              </a:pathLst>
            </a:cu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238736" y="2979838"/>
            <a:ext cx="685799" cy="458198"/>
            <a:chOff x="5763909" y="2539589"/>
            <a:chExt cx="685799" cy="610931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5763909" y="2612073"/>
              <a:ext cx="685799" cy="538447"/>
            </a:xfrm>
            <a:prstGeom prst="straightConnector1">
              <a:avLst/>
            </a:prstGeom>
            <a:noFill/>
            <a:ln w="9525" cap="flat" cmpd="sng" algn="ctr">
              <a:solidFill>
                <a:srgbClr val="0070C0"/>
              </a:solidFill>
              <a:prstDash val="solid"/>
              <a:tailEnd type="arrow"/>
            </a:ln>
            <a:effectLst/>
          </p:spPr>
        </p:cxnSp>
        <p:sp>
          <p:nvSpPr>
            <p:cNvPr id="47" name="Freeform 46"/>
            <p:cNvSpPr/>
            <p:nvPr/>
          </p:nvSpPr>
          <p:spPr>
            <a:xfrm>
              <a:off x="6033262" y="2539589"/>
              <a:ext cx="341376" cy="561603"/>
            </a:xfrm>
            <a:custGeom>
              <a:avLst/>
              <a:gdLst>
                <a:gd name="connsiteX0" fmla="*/ 341376 w 341376"/>
                <a:gd name="connsiteY0" fmla="*/ 143563 h 561603"/>
                <a:gd name="connsiteX1" fmla="*/ 243840 w 341376"/>
                <a:gd name="connsiteY1" fmla="*/ 21643 h 561603"/>
                <a:gd name="connsiteX2" fmla="*/ 85344 w 341376"/>
                <a:gd name="connsiteY2" fmla="*/ 533707 h 561603"/>
                <a:gd name="connsiteX3" fmla="*/ 0 w 341376"/>
                <a:gd name="connsiteY3" fmla="*/ 448363 h 561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376" h="561603">
                  <a:moveTo>
                    <a:pt x="341376" y="143563"/>
                  </a:moveTo>
                  <a:cubicBezTo>
                    <a:pt x="313944" y="50091"/>
                    <a:pt x="286512" y="-43381"/>
                    <a:pt x="243840" y="21643"/>
                  </a:cubicBezTo>
                  <a:cubicBezTo>
                    <a:pt x="201168" y="86667"/>
                    <a:pt x="125984" y="462587"/>
                    <a:pt x="85344" y="533707"/>
                  </a:cubicBezTo>
                  <a:cubicBezTo>
                    <a:pt x="44704" y="604827"/>
                    <a:pt x="22352" y="526595"/>
                    <a:pt x="0" y="448363"/>
                  </a:cubicBezTo>
                </a:path>
              </a:pathLst>
            </a:cu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 rot="6723056">
            <a:off x="1709070" y="2168971"/>
            <a:ext cx="514349" cy="610931"/>
            <a:chOff x="5763909" y="2539589"/>
            <a:chExt cx="685799" cy="610931"/>
          </a:xfrm>
        </p:grpSpPr>
        <p:cxnSp>
          <p:nvCxnSpPr>
            <p:cNvPr id="49" name="Straight Arrow Connector 48"/>
            <p:cNvCxnSpPr/>
            <p:nvPr/>
          </p:nvCxnSpPr>
          <p:spPr>
            <a:xfrm flipH="1">
              <a:off x="5763909" y="2612073"/>
              <a:ext cx="685799" cy="538447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tailEnd type="arrow"/>
            </a:ln>
            <a:effectLst/>
          </p:spPr>
        </p:cxnSp>
        <p:sp>
          <p:nvSpPr>
            <p:cNvPr id="50" name="Freeform 49"/>
            <p:cNvSpPr/>
            <p:nvPr/>
          </p:nvSpPr>
          <p:spPr>
            <a:xfrm>
              <a:off x="6033262" y="2539589"/>
              <a:ext cx="341376" cy="561603"/>
            </a:xfrm>
            <a:custGeom>
              <a:avLst/>
              <a:gdLst>
                <a:gd name="connsiteX0" fmla="*/ 341376 w 341376"/>
                <a:gd name="connsiteY0" fmla="*/ 143563 h 561603"/>
                <a:gd name="connsiteX1" fmla="*/ 243840 w 341376"/>
                <a:gd name="connsiteY1" fmla="*/ 21643 h 561603"/>
                <a:gd name="connsiteX2" fmla="*/ 85344 w 341376"/>
                <a:gd name="connsiteY2" fmla="*/ 533707 h 561603"/>
                <a:gd name="connsiteX3" fmla="*/ 0 w 341376"/>
                <a:gd name="connsiteY3" fmla="*/ 448363 h 561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376" h="561603">
                  <a:moveTo>
                    <a:pt x="341376" y="143563"/>
                  </a:moveTo>
                  <a:cubicBezTo>
                    <a:pt x="313944" y="50091"/>
                    <a:pt x="286512" y="-43381"/>
                    <a:pt x="243840" y="21643"/>
                  </a:cubicBezTo>
                  <a:cubicBezTo>
                    <a:pt x="201168" y="86667"/>
                    <a:pt x="125984" y="462587"/>
                    <a:pt x="85344" y="533707"/>
                  </a:cubicBezTo>
                  <a:cubicBezTo>
                    <a:pt x="44704" y="604827"/>
                    <a:pt x="22352" y="526595"/>
                    <a:pt x="0" y="448363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 rot="9047288">
            <a:off x="2699307" y="1817377"/>
            <a:ext cx="685799" cy="579575"/>
            <a:chOff x="7010402" y="1044054"/>
            <a:chExt cx="685799" cy="772766"/>
          </a:xfrm>
        </p:grpSpPr>
        <p:cxnSp>
          <p:nvCxnSpPr>
            <p:cNvPr id="52" name="Straight Arrow Connector 51"/>
            <p:cNvCxnSpPr/>
            <p:nvPr/>
          </p:nvCxnSpPr>
          <p:spPr>
            <a:xfrm flipH="1">
              <a:off x="7010402" y="1227658"/>
              <a:ext cx="685799" cy="45249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53" name="Freeform 52"/>
            <p:cNvSpPr/>
            <p:nvPr/>
          </p:nvSpPr>
          <p:spPr>
            <a:xfrm>
              <a:off x="7264125" y="1044054"/>
              <a:ext cx="381816" cy="772766"/>
            </a:xfrm>
            <a:custGeom>
              <a:avLst/>
              <a:gdLst>
                <a:gd name="connsiteX0" fmla="*/ 397056 w 397056"/>
                <a:gd name="connsiteY0" fmla="*/ 246311 h 772766"/>
                <a:gd name="connsiteX1" fmla="*/ 31296 w 397056"/>
                <a:gd name="connsiteY1" fmla="*/ 2471 h 772766"/>
                <a:gd name="connsiteX2" fmla="*/ 189792 w 397056"/>
                <a:gd name="connsiteY2" fmla="*/ 380423 h 772766"/>
                <a:gd name="connsiteX3" fmla="*/ 336096 w 397056"/>
                <a:gd name="connsiteY3" fmla="*/ 770567 h 772766"/>
                <a:gd name="connsiteX4" fmla="*/ 43488 w 397056"/>
                <a:gd name="connsiteY4" fmla="*/ 538919 h 772766"/>
                <a:gd name="connsiteX5" fmla="*/ 6912 w 397056"/>
                <a:gd name="connsiteY5" fmla="*/ 538919 h 77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056" h="772766">
                  <a:moveTo>
                    <a:pt x="397056" y="246311"/>
                  </a:moveTo>
                  <a:cubicBezTo>
                    <a:pt x="231448" y="113215"/>
                    <a:pt x="65840" y="-19881"/>
                    <a:pt x="31296" y="2471"/>
                  </a:cubicBezTo>
                  <a:cubicBezTo>
                    <a:pt x="-3248" y="24823"/>
                    <a:pt x="138992" y="252407"/>
                    <a:pt x="189792" y="380423"/>
                  </a:cubicBezTo>
                  <a:cubicBezTo>
                    <a:pt x="240592" y="508439"/>
                    <a:pt x="360480" y="744151"/>
                    <a:pt x="336096" y="770567"/>
                  </a:cubicBezTo>
                  <a:cubicBezTo>
                    <a:pt x="311712" y="796983"/>
                    <a:pt x="98352" y="577527"/>
                    <a:pt x="43488" y="538919"/>
                  </a:cubicBezTo>
                  <a:cubicBezTo>
                    <a:pt x="-11376" y="500311"/>
                    <a:pt x="-2232" y="519615"/>
                    <a:pt x="6912" y="538919"/>
                  </a:cubicBezTo>
                </a:path>
              </a:pathLst>
            </a:custGeom>
            <a:noFill/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 rot="6004655">
            <a:off x="2135881" y="1909110"/>
            <a:ext cx="514349" cy="772766"/>
            <a:chOff x="7010402" y="1044054"/>
            <a:chExt cx="685799" cy="772766"/>
          </a:xfrm>
        </p:grpSpPr>
        <p:cxnSp>
          <p:nvCxnSpPr>
            <p:cNvPr id="55" name="Straight Arrow Connector 54"/>
            <p:cNvCxnSpPr/>
            <p:nvPr/>
          </p:nvCxnSpPr>
          <p:spPr>
            <a:xfrm flipH="1">
              <a:off x="7010402" y="1227658"/>
              <a:ext cx="685799" cy="452492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tailEnd type="arrow"/>
            </a:ln>
            <a:effectLst/>
          </p:spPr>
        </p:cxnSp>
        <p:sp>
          <p:nvSpPr>
            <p:cNvPr id="56" name="Freeform 55"/>
            <p:cNvSpPr/>
            <p:nvPr/>
          </p:nvSpPr>
          <p:spPr>
            <a:xfrm>
              <a:off x="7264125" y="1044054"/>
              <a:ext cx="381816" cy="772766"/>
            </a:xfrm>
            <a:custGeom>
              <a:avLst/>
              <a:gdLst>
                <a:gd name="connsiteX0" fmla="*/ 397056 w 397056"/>
                <a:gd name="connsiteY0" fmla="*/ 246311 h 772766"/>
                <a:gd name="connsiteX1" fmla="*/ 31296 w 397056"/>
                <a:gd name="connsiteY1" fmla="*/ 2471 h 772766"/>
                <a:gd name="connsiteX2" fmla="*/ 189792 w 397056"/>
                <a:gd name="connsiteY2" fmla="*/ 380423 h 772766"/>
                <a:gd name="connsiteX3" fmla="*/ 336096 w 397056"/>
                <a:gd name="connsiteY3" fmla="*/ 770567 h 772766"/>
                <a:gd name="connsiteX4" fmla="*/ 43488 w 397056"/>
                <a:gd name="connsiteY4" fmla="*/ 538919 h 772766"/>
                <a:gd name="connsiteX5" fmla="*/ 6912 w 397056"/>
                <a:gd name="connsiteY5" fmla="*/ 538919 h 772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7056" h="772766">
                  <a:moveTo>
                    <a:pt x="397056" y="246311"/>
                  </a:moveTo>
                  <a:cubicBezTo>
                    <a:pt x="231448" y="113215"/>
                    <a:pt x="65840" y="-19881"/>
                    <a:pt x="31296" y="2471"/>
                  </a:cubicBezTo>
                  <a:cubicBezTo>
                    <a:pt x="-3248" y="24823"/>
                    <a:pt x="138992" y="252407"/>
                    <a:pt x="189792" y="380423"/>
                  </a:cubicBezTo>
                  <a:cubicBezTo>
                    <a:pt x="240592" y="508439"/>
                    <a:pt x="360480" y="744151"/>
                    <a:pt x="336096" y="770567"/>
                  </a:cubicBezTo>
                  <a:cubicBezTo>
                    <a:pt x="311712" y="796983"/>
                    <a:pt x="98352" y="577527"/>
                    <a:pt x="43488" y="538919"/>
                  </a:cubicBezTo>
                  <a:cubicBezTo>
                    <a:pt x="-11376" y="500311"/>
                    <a:pt x="-2232" y="519615"/>
                    <a:pt x="6912" y="538919"/>
                  </a:cubicBezTo>
                </a:path>
              </a:pathLst>
            </a:custGeom>
            <a:noFill/>
            <a:ln w="25400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4724400" y="1028701"/>
            <a:ext cx="1650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Display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screen</a:t>
            </a:r>
          </a:p>
        </p:txBody>
      </p:sp>
      <p:pic>
        <p:nvPicPr>
          <p:cNvPr id="5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060" y="3174277"/>
            <a:ext cx="2357288" cy="963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" name="TextBox 58"/>
          <p:cNvSpPr txBox="1"/>
          <p:nvPr/>
        </p:nvSpPr>
        <p:spPr>
          <a:xfrm>
            <a:off x="4204843" y="3615929"/>
            <a:ext cx="42450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Large number of plane waves launched from</a:t>
            </a:r>
          </a:p>
          <a:p>
            <a:r>
              <a:rPr lang="en-US" sz="1600" dirty="0"/>
              <a:t>multiple directions within illumination pupil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0724" y="1260805"/>
            <a:ext cx="14558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Projection lens</a:t>
            </a:r>
          </a:p>
          <a:p>
            <a:r>
              <a:rPr lang="en-US" sz="1200" dirty="0"/>
              <a:t>aperture removes </a:t>
            </a:r>
          </a:p>
          <a:p>
            <a:r>
              <a:rPr lang="en-US" sz="1200" dirty="0"/>
              <a:t>energy outside of </a:t>
            </a:r>
          </a:p>
          <a:p>
            <a:r>
              <a:rPr lang="en-US" sz="1200" dirty="0"/>
              <a:t>F/number cone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1218" y="4108531"/>
            <a:ext cx="2612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Diffraction model calculates far-field</a:t>
            </a:r>
          </a:p>
          <a:p>
            <a:r>
              <a:rPr lang="en-US" sz="1200" dirty="0"/>
              <a:t>for each incident plane wave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4179" y="2212532"/>
            <a:ext cx="13612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Integrate fields</a:t>
            </a:r>
          </a:p>
          <a:p>
            <a:r>
              <a:rPr lang="en-US" sz="1200" dirty="0"/>
              <a:t>incoherently over</a:t>
            </a:r>
          </a:p>
          <a:p>
            <a:r>
              <a:rPr lang="en-US" sz="1200" dirty="0"/>
              <a:t>wavelength and </a:t>
            </a:r>
          </a:p>
          <a:p>
            <a:r>
              <a:rPr lang="en-US" sz="1200" dirty="0"/>
              <a:t>position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44022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DMD diffraction can be treated as a surface </a:t>
            </a:r>
            <a:r>
              <a:rPr lang="en-US" sz="2000" dirty="0" err="1"/>
              <a:t>scatterer</a:t>
            </a:r>
            <a:r>
              <a:rPr lang="en-US" sz="2000" dirty="0"/>
              <a:t> with Bidirectional Scatter Distribution Function (BSDF)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1" y="3416896"/>
            <a:ext cx="8467725" cy="609600"/>
          </a:xfrm>
        </p:spPr>
        <p:txBody>
          <a:bodyPr/>
          <a:lstStyle/>
          <a:p>
            <a:r>
              <a:rPr lang="en-US" sz="1200" dirty="0"/>
              <a:t>Typical scattering surfaces (isotropic) can be characterized by in-plane BSDF because scattering properties do not change with angle phi. DMD diffraction is discrete and BSDF functions are typically described by continuous functions.</a:t>
            </a:r>
          </a:p>
          <a:p>
            <a:r>
              <a:rPr lang="en-US" sz="1200" dirty="0"/>
              <a:t>The DMD does NOT behave like this since the scattering properties change with phi. </a:t>
            </a:r>
          </a:p>
          <a:p>
            <a:r>
              <a:rPr lang="en-US" sz="1200" dirty="0"/>
              <a:t>In spite of this we can use Harvey’s non-paraxial diffraction theory model to describe scatter from the DMD. 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76418"/>
            <a:ext cx="4343400" cy="2740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3000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Oval 132"/>
          <p:cNvSpPr/>
          <p:nvPr/>
        </p:nvSpPr>
        <p:spPr>
          <a:xfrm rot="598867">
            <a:off x="5507833" y="2864143"/>
            <a:ext cx="2903869" cy="1229379"/>
          </a:xfrm>
          <a:prstGeom prst="ellipse">
            <a:avLst/>
          </a:prstGeom>
          <a:solidFill>
            <a:srgbClr val="DE0000">
              <a:alpha val="2117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" y="110268"/>
            <a:ext cx="8458200" cy="610791"/>
          </a:xfrm>
        </p:spPr>
        <p:txBody>
          <a:bodyPr/>
          <a:lstStyle/>
          <a:p>
            <a:r>
              <a:rPr lang="en-US" dirty="0"/>
              <a:t>Geometry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5328308" y="2613081"/>
            <a:ext cx="3290175" cy="1452965"/>
            <a:chOff x="5026450" y="2845118"/>
            <a:chExt cx="2397294" cy="1275617"/>
          </a:xfrm>
        </p:grpSpPr>
        <p:cxnSp>
          <p:nvCxnSpPr>
            <p:cNvPr id="21" name="Straight Arrow Connector 20"/>
            <p:cNvCxnSpPr/>
            <p:nvPr/>
          </p:nvCxnSpPr>
          <p:spPr>
            <a:xfrm flipV="1">
              <a:off x="6697368" y="3526534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6497824" y="3763085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6903492" y="3297114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7092073" y="3097568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997863" y="3638095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5499000" y="3558697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5026450" y="3442385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5280815" y="3227033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5511060" y="3013418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5725955" y="2845118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6166811" y="2929267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6621818" y="3031321"/>
              <a:ext cx="0" cy="168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V="1">
              <a:off x="6428851" y="3181717"/>
              <a:ext cx="0" cy="19954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endCxn id="20" idx="11"/>
            </p:cNvCxnSpPr>
            <p:nvPr/>
          </p:nvCxnSpPr>
          <p:spPr>
            <a:xfrm flipV="1">
              <a:off x="6209570" y="2986601"/>
              <a:ext cx="3745" cy="618695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V="1">
              <a:off x="5725955" y="3311183"/>
              <a:ext cx="0" cy="19954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V="1">
              <a:off x="5954007" y="3111637"/>
              <a:ext cx="0" cy="19954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19"/>
            <p:cNvSpPr/>
            <p:nvPr/>
          </p:nvSpPr>
          <p:spPr>
            <a:xfrm>
              <a:off x="5693620" y="2986558"/>
              <a:ext cx="947292" cy="1085482"/>
            </a:xfrm>
            <a:custGeom>
              <a:avLst/>
              <a:gdLst>
                <a:gd name="connsiteX0" fmla="*/ 0 w 947292"/>
                <a:gd name="connsiteY0" fmla="*/ 1085482 h 1085482"/>
                <a:gd name="connsiteX1" fmla="*/ 85520 w 947292"/>
                <a:gd name="connsiteY1" fmla="*/ 888130 h 1085482"/>
                <a:gd name="connsiteX2" fmla="*/ 157882 w 947292"/>
                <a:gd name="connsiteY2" fmla="*/ 802610 h 1085482"/>
                <a:gd name="connsiteX3" fmla="*/ 200642 w 947292"/>
                <a:gd name="connsiteY3" fmla="*/ 779586 h 1085482"/>
                <a:gd name="connsiteX4" fmla="*/ 256558 w 947292"/>
                <a:gd name="connsiteY4" fmla="*/ 802610 h 1085482"/>
                <a:gd name="connsiteX5" fmla="*/ 259848 w 947292"/>
                <a:gd name="connsiteY5" fmla="*/ 828924 h 1085482"/>
                <a:gd name="connsiteX6" fmla="*/ 299318 w 947292"/>
                <a:gd name="connsiteY6" fmla="*/ 674331 h 1085482"/>
                <a:gd name="connsiteX7" fmla="*/ 328921 w 947292"/>
                <a:gd name="connsiteY7" fmla="*/ 555920 h 1085482"/>
                <a:gd name="connsiteX8" fmla="*/ 361813 w 947292"/>
                <a:gd name="connsiteY8" fmla="*/ 424351 h 1085482"/>
                <a:gd name="connsiteX9" fmla="*/ 421019 w 947292"/>
                <a:gd name="connsiteY9" fmla="*/ 144769 h 1085482"/>
                <a:gd name="connsiteX10" fmla="*/ 470357 w 947292"/>
                <a:gd name="connsiteY10" fmla="*/ 42803 h 1085482"/>
                <a:gd name="connsiteX11" fmla="*/ 519695 w 947292"/>
                <a:gd name="connsiteY11" fmla="*/ 43 h 1085482"/>
                <a:gd name="connsiteX12" fmla="*/ 605215 w 947292"/>
                <a:gd name="connsiteY12" fmla="*/ 49382 h 1085482"/>
                <a:gd name="connsiteX13" fmla="*/ 654553 w 947292"/>
                <a:gd name="connsiteY13" fmla="*/ 177661 h 1085482"/>
                <a:gd name="connsiteX14" fmla="*/ 677577 w 947292"/>
                <a:gd name="connsiteY14" fmla="*/ 259891 h 1085482"/>
                <a:gd name="connsiteX15" fmla="*/ 707180 w 947292"/>
                <a:gd name="connsiteY15" fmla="*/ 309229 h 1085482"/>
                <a:gd name="connsiteX16" fmla="*/ 740072 w 947292"/>
                <a:gd name="connsiteY16" fmla="*/ 355278 h 1085482"/>
                <a:gd name="connsiteX17" fmla="*/ 753229 w 947292"/>
                <a:gd name="connsiteY17" fmla="*/ 371724 h 1085482"/>
                <a:gd name="connsiteX18" fmla="*/ 759807 w 947292"/>
                <a:gd name="connsiteY18" fmla="*/ 292783 h 1085482"/>
                <a:gd name="connsiteX19" fmla="*/ 802567 w 947292"/>
                <a:gd name="connsiteY19" fmla="*/ 184239 h 1085482"/>
                <a:gd name="connsiteX20" fmla="*/ 848616 w 947292"/>
                <a:gd name="connsiteY20" fmla="*/ 144769 h 1085482"/>
                <a:gd name="connsiteX21" fmla="*/ 914400 w 947292"/>
                <a:gd name="connsiteY21" fmla="*/ 141479 h 1085482"/>
                <a:gd name="connsiteX22" fmla="*/ 947292 w 947292"/>
                <a:gd name="connsiteY22" fmla="*/ 157925 h 1085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7292" h="1085482">
                  <a:moveTo>
                    <a:pt x="0" y="1085482"/>
                  </a:moveTo>
                  <a:cubicBezTo>
                    <a:pt x="29603" y="1010378"/>
                    <a:pt x="59206" y="935275"/>
                    <a:pt x="85520" y="888130"/>
                  </a:cubicBezTo>
                  <a:cubicBezTo>
                    <a:pt x="111834" y="840985"/>
                    <a:pt x="138695" y="820701"/>
                    <a:pt x="157882" y="802610"/>
                  </a:cubicBezTo>
                  <a:cubicBezTo>
                    <a:pt x="177069" y="784519"/>
                    <a:pt x="184196" y="779586"/>
                    <a:pt x="200642" y="779586"/>
                  </a:cubicBezTo>
                  <a:cubicBezTo>
                    <a:pt x="217088" y="779586"/>
                    <a:pt x="246690" y="794387"/>
                    <a:pt x="256558" y="802610"/>
                  </a:cubicBezTo>
                  <a:cubicBezTo>
                    <a:pt x="266426" y="810833"/>
                    <a:pt x="252721" y="850304"/>
                    <a:pt x="259848" y="828924"/>
                  </a:cubicBezTo>
                  <a:cubicBezTo>
                    <a:pt x="266975" y="807544"/>
                    <a:pt x="287806" y="719832"/>
                    <a:pt x="299318" y="674331"/>
                  </a:cubicBezTo>
                  <a:cubicBezTo>
                    <a:pt x="310830" y="628830"/>
                    <a:pt x="328921" y="555920"/>
                    <a:pt x="328921" y="555920"/>
                  </a:cubicBezTo>
                  <a:cubicBezTo>
                    <a:pt x="339337" y="514257"/>
                    <a:pt x="346463" y="492876"/>
                    <a:pt x="361813" y="424351"/>
                  </a:cubicBezTo>
                  <a:cubicBezTo>
                    <a:pt x="377163" y="355826"/>
                    <a:pt x="402928" y="208360"/>
                    <a:pt x="421019" y="144769"/>
                  </a:cubicBezTo>
                  <a:cubicBezTo>
                    <a:pt x="439110" y="81178"/>
                    <a:pt x="453911" y="66924"/>
                    <a:pt x="470357" y="42803"/>
                  </a:cubicBezTo>
                  <a:cubicBezTo>
                    <a:pt x="486803" y="18682"/>
                    <a:pt x="497219" y="-1054"/>
                    <a:pt x="519695" y="43"/>
                  </a:cubicBezTo>
                  <a:cubicBezTo>
                    <a:pt x="542171" y="1140"/>
                    <a:pt x="582739" y="19779"/>
                    <a:pt x="605215" y="49382"/>
                  </a:cubicBezTo>
                  <a:cubicBezTo>
                    <a:pt x="627691" y="78985"/>
                    <a:pt x="642493" y="142576"/>
                    <a:pt x="654553" y="177661"/>
                  </a:cubicBezTo>
                  <a:cubicBezTo>
                    <a:pt x="666613" y="212746"/>
                    <a:pt x="668806" y="237963"/>
                    <a:pt x="677577" y="259891"/>
                  </a:cubicBezTo>
                  <a:cubicBezTo>
                    <a:pt x="686348" y="281819"/>
                    <a:pt x="696764" y="293331"/>
                    <a:pt x="707180" y="309229"/>
                  </a:cubicBezTo>
                  <a:cubicBezTo>
                    <a:pt x="717596" y="325127"/>
                    <a:pt x="732397" y="344862"/>
                    <a:pt x="740072" y="355278"/>
                  </a:cubicBezTo>
                  <a:cubicBezTo>
                    <a:pt x="747747" y="365694"/>
                    <a:pt x="749940" y="382140"/>
                    <a:pt x="753229" y="371724"/>
                  </a:cubicBezTo>
                  <a:cubicBezTo>
                    <a:pt x="756518" y="361308"/>
                    <a:pt x="751584" y="324030"/>
                    <a:pt x="759807" y="292783"/>
                  </a:cubicBezTo>
                  <a:cubicBezTo>
                    <a:pt x="768030" y="261536"/>
                    <a:pt x="787766" y="208908"/>
                    <a:pt x="802567" y="184239"/>
                  </a:cubicBezTo>
                  <a:cubicBezTo>
                    <a:pt x="817368" y="159570"/>
                    <a:pt x="829977" y="151896"/>
                    <a:pt x="848616" y="144769"/>
                  </a:cubicBezTo>
                  <a:cubicBezTo>
                    <a:pt x="867255" y="137642"/>
                    <a:pt x="897954" y="139286"/>
                    <a:pt x="914400" y="141479"/>
                  </a:cubicBezTo>
                  <a:cubicBezTo>
                    <a:pt x="930846" y="143672"/>
                    <a:pt x="939069" y="150798"/>
                    <a:pt x="947292" y="15792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5217919" y="2981096"/>
              <a:ext cx="2059045" cy="821564"/>
            </a:xfrm>
            <a:custGeom>
              <a:avLst/>
              <a:gdLst>
                <a:gd name="connsiteX0" fmla="*/ 0 w 2059045"/>
                <a:gd name="connsiteY0" fmla="*/ 393966 h 821564"/>
                <a:gd name="connsiteX1" fmla="*/ 118412 w 2059045"/>
                <a:gd name="connsiteY1" fmla="*/ 347918 h 821564"/>
                <a:gd name="connsiteX2" fmla="*/ 246691 w 2059045"/>
                <a:gd name="connsiteY2" fmla="*/ 321604 h 821564"/>
                <a:gd name="connsiteX3" fmla="*/ 325632 w 2059045"/>
                <a:gd name="connsiteY3" fmla="*/ 341339 h 821564"/>
                <a:gd name="connsiteX4" fmla="*/ 411152 w 2059045"/>
                <a:gd name="connsiteY4" fmla="*/ 410412 h 821564"/>
                <a:gd name="connsiteX5" fmla="*/ 457200 w 2059045"/>
                <a:gd name="connsiteY5" fmla="*/ 469618 h 821564"/>
                <a:gd name="connsiteX6" fmla="*/ 480225 w 2059045"/>
                <a:gd name="connsiteY6" fmla="*/ 502510 h 821564"/>
                <a:gd name="connsiteX7" fmla="*/ 559166 w 2059045"/>
                <a:gd name="connsiteY7" fmla="*/ 416991 h 821564"/>
                <a:gd name="connsiteX8" fmla="*/ 634818 w 2059045"/>
                <a:gd name="connsiteY8" fmla="*/ 315025 h 821564"/>
                <a:gd name="connsiteX9" fmla="*/ 703891 w 2059045"/>
                <a:gd name="connsiteY9" fmla="*/ 213060 h 821564"/>
                <a:gd name="connsiteX10" fmla="*/ 786121 w 2059045"/>
                <a:gd name="connsiteY10" fmla="*/ 101227 h 821564"/>
                <a:gd name="connsiteX11" fmla="*/ 848616 w 2059045"/>
                <a:gd name="connsiteY11" fmla="*/ 48600 h 821564"/>
                <a:gd name="connsiteX12" fmla="*/ 894665 w 2059045"/>
                <a:gd name="connsiteY12" fmla="*/ 9129 h 821564"/>
                <a:gd name="connsiteX13" fmla="*/ 940714 w 2059045"/>
                <a:gd name="connsiteY13" fmla="*/ 2551 h 821564"/>
                <a:gd name="connsiteX14" fmla="*/ 1009788 w 2059045"/>
                <a:gd name="connsiteY14" fmla="*/ 5840 h 821564"/>
                <a:gd name="connsiteX15" fmla="*/ 1108464 w 2059045"/>
                <a:gd name="connsiteY15" fmla="*/ 65046 h 821564"/>
                <a:gd name="connsiteX16" fmla="*/ 1180826 w 2059045"/>
                <a:gd name="connsiteY16" fmla="*/ 157143 h 821564"/>
                <a:gd name="connsiteX17" fmla="*/ 1249900 w 2059045"/>
                <a:gd name="connsiteY17" fmla="*/ 239374 h 821564"/>
                <a:gd name="connsiteX18" fmla="*/ 1299238 w 2059045"/>
                <a:gd name="connsiteY18" fmla="*/ 334761 h 821564"/>
                <a:gd name="connsiteX19" fmla="*/ 1355154 w 2059045"/>
                <a:gd name="connsiteY19" fmla="*/ 449883 h 821564"/>
                <a:gd name="connsiteX20" fmla="*/ 1427517 w 2059045"/>
                <a:gd name="connsiteY20" fmla="*/ 591319 h 821564"/>
                <a:gd name="connsiteX21" fmla="*/ 1519615 w 2059045"/>
                <a:gd name="connsiteY21" fmla="*/ 719598 h 821564"/>
                <a:gd name="connsiteX22" fmla="*/ 1618291 w 2059045"/>
                <a:gd name="connsiteY22" fmla="*/ 653814 h 821564"/>
                <a:gd name="connsiteX23" fmla="*/ 1730124 w 2059045"/>
                <a:gd name="connsiteY23" fmla="*/ 624211 h 821564"/>
                <a:gd name="connsiteX24" fmla="*/ 1822222 w 2059045"/>
                <a:gd name="connsiteY24" fmla="*/ 640657 h 821564"/>
                <a:gd name="connsiteX25" fmla="*/ 1904452 w 2059045"/>
                <a:gd name="connsiteY25" fmla="*/ 696574 h 821564"/>
                <a:gd name="connsiteX26" fmla="*/ 2029442 w 2059045"/>
                <a:gd name="connsiteY26" fmla="*/ 791961 h 821564"/>
                <a:gd name="connsiteX27" fmla="*/ 2059045 w 2059045"/>
                <a:gd name="connsiteY27" fmla="*/ 821564 h 821564"/>
                <a:gd name="connsiteX28" fmla="*/ 2059045 w 2059045"/>
                <a:gd name="connsiteY28" fmla="*/ 821564 h 82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59045" h="821564">
                  <a:moveTo>
                    <a:pt x="0" y="393966"/>
                  </a:moveTo>
                  <a:cubicBezTo>
                    <a:pt x="38648" y="376972"/>
                    <a:pt x="77297" y="359978"/>
                    <a:pt x="118412" y="347918"/>
                  </a:cubicBezTo>
                  <a:cubicBezTo>
                    <a:pt x="159527" y="335858"/>
                    <a:pt x="212154" y="322700"/>
                    <a:pt x="246691" y="321604"/>
                  </a:cubicBezTo>
                  <a:cubicBezTo>
                    <a:pt x="281228" y="320507"/>
                    <a:pt x="298222" y="326538"/>
                    <a:pt x="325632" y="341339"/>
                  </a:cubicBezTo>
                  <a:cubicBezTo>
                    <a:pt x="353042" y="356140"/>
                    <a:pt x="389224" y="389032"/>
                    <a:pt x="411152" y="410412"/>
                  </a:cubicBezTo>
                  <a:cubicBezTo>
                    <a:pt x="433080" y="431792"/>
                    <a:pt x="445688" y="454268"/>
                    <a:pt x="457200" y="469618"/>
                  </a:cubicBezTo>
                  <a:cubicBezTo>
                    <a:pt x="468712" y="484968"/>
                    <a:pt x="463231" y="511281"/>
                    <a:pt x="480225" y="502510"/>
                  </a:cubicBezTo>
                  <a:cubicBezTo>
                    <a:pt x="497219" y="493739"/>
                    <a:pt x="533400" y="448239"/>
                    <a:pt x="559166" y="416991"/>
                  </a:cubicBezTo>
                  <a:cubicBezTo>
                    <a:pt x="584932" y="385743"/>
                    <a:pt x="610697" y="349013"/>
                    <a:pt x="634818" y="315025"/>
                  </a:cubicBezTo>
                  <a:cubicBezTo>
                    <a:pt x="658939" y="281037"/>
                    <a:pt x="678674" y="248693"/>
                    <a:pt x="703891" y="213060"/>
                  </a:cubicBezTo>
                  <a:cubicBezTo>
                    <a:pt x="729108" y="177427"/>
                    <a:pt x="762000" y="128637"/>
                    <a:pt x="786121" y="101227"/>
                  </a:cubicBezTo>
                  <a:cubicBezTo>
                    <a:pt x="810242" y="73817"/>
                    <a:pt x="848616" y="48600"/>
                    <a:pt x="848616" y="48600"/>
                  </a:cubicBezTo>
                  <a:cubicBezTo>
                    <a:pt x="866707" y="33250"/>
                    <a:pt x="879315" y="16804"/>
                    <a:pt x="894665" y="9129"/>
                  </a:cubicBezTo>
                  <a:cubicBezTo>
                    <a:pt x="910015" y="1454"/>
                    <a:pt x="921527" y="3099"/>
                    <a:pt x="940714" y="2551"/>
                  </a:cubicBezTo>
                  <a:cubicBezTo>
                    <a:pt x="959901" y="2003"/>
                    <a:pt x="981830" y="-4576"/>
                    <a:pt x="1009788" y="5840"/>
                  </a:cubicBezTo>
                  <a:cubicBezTo>
                    <a:pt x="1037746" y="16256"/>
                    <a:pt x="1079958" y="39829"/>
                    <a:pt x="1108464" y="65046"/>
                  </a:cubicBezTo>
                  <a:cubicBezTo>
                    <a:pt x="1136970" y="90263"/>
                    <a:pt x="1157253" y="128088"/>
                    <a:pt x="1180826" y="157143"/>
                  </a:cubicBezTo>
                  <a:cubicBezTo>
                    <a:pt x="1204399" y="186198"/>
                    <a:pt x="1230165" y="209771"/>
                    <a:pt x="1249900" y="239374"/>
                  </a:cubicBezTo>
                  <a:cubicBezTo>
                    <a:pt x="1269635" y="268977"/>
                    <a:pt x="1281696" y="299676"/>
                    <a:pt x="1299238" y="334761"/>
                  </a:cubicBezTo>
                  <a:cubicBezTo>
                    <a:pt x="1316780" y="369846"/>
                    <a:pt x="1333774" y="407123"/>
                    <a:pt x="1355154" y="449883"/>
                  </a:cubicBezTo>
                  <a:cubicBezTo>
                    <a:pt x="1376534" y="492643"/>
                    <a:pt x="1400107" y="546366"/>
                    <a:pt x="1427517" y="591319"/>
                  </a:cubicBezTo>
                  <a:cubicBezTo>
                    <a:pt x="1454927" y="636272"/>
                    <a:pt x="1487819" y="709182"/>
                    <a:pt x="1519615" y="719598"/>
                  </a:cubicBezTo>
                  <a:cubicBezTo>
                    <a:pt x="1551411" y="730014"/>
                    <a:pt x="1583206" y="669712"/>
                    <a:pt x="1618291" y="653814"/>
                  </a:cubicBezTo>
                  <a:cubicBezTo>
                    <a:pt x="1653376" y="637916"/>
                    <a:pt x="1696136" y="626404"/>
                    <a:pt x="1730124" y="624211"/>
                  </a:cubicBezTo>
                  <a:cubicBezTo>
                    <a:pt x="1764112" y="622018"/>
                    <a:pt x="1793167" y="628597"/>
                    <a:pt x="1822222" y="640657"/>
                  </a:cubicBezTo>
                  <a:cubicBezTo>
                    <a:pt x="1851277" y="652717"/>
                    <a:pt x="1869915" y="671357"/>
                    <a:pt x="1904452" y="696574"/>
                  </a:cubicBezTo>
                  <a:cubicBezTo>
                    <a:pt x="1938989" y="721791"/>
                    <a:pt x="2003677" y="771129"/>
                    <a:pt x="2029442" y="791961"/>
                  </a:cubicBezTo>
                  <a:cubicBezTo>
                    <a:pt x="2055208" y="812793"/>
                    <a:pt x="2059045" y="821564"/>
                    <a:pt x="2059045" y="821564"/>
                  </a:cubicBezTo>
                  <a:lnTo>
                    <a:pt x="2059045" y="821564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V="1">
              <a:off x="5635511" y="3056859"/>
              <a:ext cx="1110758" cy="106387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5055514" y="3351292"/>
              <a:ext cx="2368230" cy="48342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ight Arrow 50"/>
          <p:cNvSpPr/>
          <p:nvPr/>
        </p:nvSpPr>
        <p:spPr>
          <a:xfrm>
            <a:off x="2932795" y="548022"/>
            <a:ext cx="1549054" cy="404329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Far Field</a:t>
            </a:r>
          </a:p>
          <a:p>
            <a:pPr algn="ctr"/>
            <a:r>
              <a:rPr lang="en-US" dirty="0"/>
              <a:t>(direction cosine space)</a:t>
            </a:r>
          </a:p>
        </p:txBody>
      </p:sp>
      <p:grpSp>
        <p:nvGrpSpPr>
          <p:cNvPr id="3080" name="Group 3079"/>
          <p:cNvGrpSpPr/>
          <p:nvPr/>
        </p:nvGrpSpPr>
        <p:grpSpPr>
          <a:xfrm>
            <a:off x="5697727" y="758972"/>
            <a:ext cx="2457440" cy="1478370"/>
            <a:chOff x="5697727" y="1011962"/>
            <a:chExt cx="2457440" cy="1971160"/>
          </a:xfrm>
        </p:grpSpPr>
        <p:cxnSp>
          <p:nvCxnSpPr>
            <p:cNvPr id="54" name="Straight Arrow Connector 53"/>
            <p:cNvCxnSpPr/>
            <p:nvPr/>
          </p:nvCxnSpPr>
          <p:spPr>
            <a:xfrm flipH="1" flipV="1">
              <a:off x="6969458" y="1011962"/>
              <a:ext cx="16809" cy="197116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5697727" y="2040380"/>
              <a:ext cx="245744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Oval 56"/>
            <p:cNvSpPr/>
            <p:nvPr/>
          </p:nvSpPr>
          <p:spPr>
            <a:xfrm>
              <a:off x="7213600" y="1724025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213600" y="1414429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7497952" y="1413450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7486931" y="1713221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6923510" y="2011805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6940883" y="1724025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7213600" y="2011805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7503684" y="2004568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6938447" y="1413450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6347272" y="1733037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6347272" y="1423441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6631624" y="1422462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6620603" y="1722233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6347272" y="2020817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6637356" y="2013580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6347272" y="2628553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6347272" y="2318957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6631624" y="2317978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6620603" y="2617749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7203811" y="2631434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7203811" y="2321838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7488163" y="2320859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7477142" y="2620630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>
            <a:xfrm>
              <a:off x="6931094" y="2631434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>
              <a:off x="6928658" y="2320859"/>
              <a:ext cx="57150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83" name="Straight Arrow Connector 3082"/>
          <p:cNvCxnSpPr/>
          <p:nvPr/>
        </p:nvCxnSpPr>
        <p:spPr>
          <a:xfrm flipH="1" flipV="1">
            <a:off x="7270751" y="2014277"/>
            <a:ext cx="530225" cy="2098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 flipV="1">
            <a:off x="7800976" y="3492616"/>
            <a:ext cx="323362" cy="5718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3085"/>
          <p:cNvSpPr txBox="1"/>
          <p:nvPr/>
        </p:nvSpPr>
        <p:spPr>
          <a:xfrm>
            <a:off x="7438428" y="2236055"/>
            <a:ext cx="15055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Discrete diffraction </a:t>
            </a:r>
          </a:p>
          <a:p>
            <a:r>
              <a:rPr lang="en-US" sz="1100" b="1" dirty="0"/>
              <a:t>orders (</a:t>
            </a:r>
            <a:r>
              <a:rPr lang="en-US" sz="1100" b="1" dirty="0" err="1"/>
              <a:t>m,n</a:t>
            </a:r>
            <a:r>
              <a:rPr lang="en-US" sz="1100" b="1" dirty="0"/>
              <a:t>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42060" y="3814046"/>
            <a:ext cx="124906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Envelope </a:t>
            </a:r>
          </a:p>
          <a:p>
            <a:r>
              <a:rPr lang="en-US" sz="1100" b="1" dirty="0"/>
              <a:t>determined </a:t>
            </a:r>
          </a:p>
          <a:p>
            <a:r>
              <a:rPr lang="en-US" sz="1100" b="1" dirty="0"/>
              <a:t>by mirror shape</a:t>
            </a:r>
          </a:p>
        </p:txBody>
      </p:sp>
      <p:cxnSp>
        <p:nvCxnSpPr>
          <p:cNvPr id="118" name="Straight Arrow Connector 117"/>
          <p:cNvCxnSpPr/>
          <p:nvPr/>
        </p:nvCxnSpPr>
        <p:spPr>
          <a:xfrm flipH="1">
            <a:off x="8163279" y="2630045"/>
            <a:ext cx="132996" cy="224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7879598" y="990908"/>
            <a:ext cx="9108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 order (3,1)</a:t>
            </a:r>
          </a:p>
        </p:txBody>
      </p:sp>
      <p:sp>
        <p:nvSpPr>
          <p:cNvPr id="3092" name="Oval 3091"/>
          <p:cNvSpPr/>
          <p:nvPr/>
        </p:nvSpPr>
        <p:spPr>
          <a:xfrm>
            <a:off x="6108701" y="778362"/>
            <a:ext cx="1645240" cy="1511554"/>
          </a:xfrm>
          <a:prstGeom prst="ellipse">
            <a:avLst/>
          </a:prstGeom>
          <a:solidFill>
            <a:srgbClr val="DE0000">
              <a:alpha val="2117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93" name="Rectangle 3092"/>
              <p:cNvSpPr/>
              <p:nvPr/>
            </p:nvSpPr>
            <p:spPr>
              <a:xfrm>
                <a:off x="8080440" y="1365657"/>
                <a:ext cx="381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/>
                        <m:t>α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93" name="Rectangle 30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440" y="1365657"/>
                <a:ext cx="3818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94" name="Rectangle 3093"/>
              <p:cNvSpPr/>
              <p:nvPr/>
            </p:nvSpPr>
            <p:spPr>
              <a:xfrm>
                <a:off x="6760379" y="422553"/>
                <a:ext cx="381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/>
                        <m:t>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94" name="Rectangle 30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379" y="422553"/>
                <a:ext cx="381835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125"/>
              <p:cNvSpPr/>
              <p:nvPr/>
            </p:nvSpPr>
            <p:spPr>
              <a:xfrm>
                <a:off x="8562133" y="3711871"/>
                <a:ext cx="381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/>
                        <m:t>α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6" name="Rectangle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2133" y="3711871"/>
                <a:ext cx="381835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tangle 126"/>
              <p:cNvSpPr/>
              <p:nvPr/>
            </p:nvSpPr>
            <p:spPr>
              <a:xfrm>
                <a:off x="7688679" y="2666279"/>
                <a:ext cx="3818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/>
                        <m:t>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679" y="2666279"/>
                <a:ext cx="38183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/>
          <p:cNvCxnSpPr/>
          <p:nvPr/>
        </p:nvCxnSpPr>
        <p:spPr>
          <a:xfrm flipH="1">
            <a:off x="7347701" y="607219"/>
            <a:ext cx="273865" cy="2926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99" name="Rectangle 3098"/>
              <p:cNvSpPr/>
              <p:nvPr/>
            </p:nvSpPr>
            <p:spPr>
              <a:xfrm>
                <a:off x="7600256" y="330220"/>
                <a:ext cx="10182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α</m:t>
                    </m:r>
                    <m:r>
                      <m:rPr>
                        <m:nor/>
                      </m:rPr>
                      <a:rPr lang="en-US" baseline="30000" dirty="0"/>
                      <m:t>2</m:t>
                    </m:r>
                    <m:r>
                      <m:rPr>
                        <m:nor/>
                      </m:rPr>
                      <a:rPr lang="en-US" dirty="0"/>
                      <m:t>+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</m:oMath>
                </a14:m>
                <a:r>
                  <a:rPr lang="en-US" baseline="30000" dirty="0"/>
                  <a:t>2</a:t>
                </a:r>
                <a:r>
                  <a:rPr lang="en-US" dirty="0"/>
                  <a:t>=1</a:t>
                </a:r>
              </a:p>
            </p:txBody>
          </p:sp>
        </mc:Choice>
        <mc:Fallback xmlns="">
          <p:sp>
            <p:nvSpPr>
              <p:cNvPr id="3099" name="Rectangle 30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0256" y="330220"/>
                <a:ext cx="1018227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419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Arrow Connector 133"/>
          <p:cNvCxnSpPr>
            <a:stCxn id="121" idx="1"/>
          </p:cNvCxnSpPr>
          <p:nvPr/>
        </p:nvCxnSpPr>
        <p:spPr>
          <a:xfrm flipH="1">
            <a:off x="7555104" y="1121713"/>
            <a:ext cx="324494" cy="1713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02" name="TextBox 3101"/>
              <p:cNvSpPr txBox="1"/>
              <p:nvPr/>
            </p:nvSpPr>
            <p:spPr>
              <a:xfrm>
                <a:off x="4076482" y="540785"/>
                <a:ext cx="128006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Fractional power in each order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dirty="0">
                        <a:latin typeface="Cambria Math"/>
                      </a:rPr>
                      <m:t>P</m:t>
                    </m:r>
                    <m:r>
                      <m:rPr>
                        <m:nor/>
                      </m:rPr>
                      <a:rPr lang="pt-BR" dirty="0"/>
                      <m:t>(</m:t>
                    </m:r>
                    <m:r>
                      <m:rPr>
                        <m:nor/>
                      </m:rPr>
                      <a:rPr lang="el-GR" dirty="0"/>
                      <m:t>α</m:t>
                    </m:r>
                    <m:r>
                      <m:rPr>
                        <m:nor/>
                      </m:rPr>
                      <a:rPr lang="en-US" baseline="-25000" dirty="0"/>
                      <m:t>m</m:t>
                    </m:r>
                    <m:r>
                      <m:rPr>
                        <m:nor/>
                      </m:rPr>
                      <a:rPr lang="en-US" baseline="-25000" dirty="0"/>
                      <m:t>,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aseline="-25000" dirty="0"/>
                      <m:t>n</m:t>
                    </m:r>
                    <m:r>
                      <m:rPr>
                        <m:nor/>
                      </m:rPr>
                      <a:rPr lang="pt-BR" dirty="0"/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102" name="TextBox 3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482" y="540785"/>
                <a:ext cx="1280065" cy="1200329"/>
              </a:xfrm>
              <a:prstGeom prst="rect">
                <a:avLst/>
              </a:prstGeom>
              <a:blipFill>
                <a:blip r:embed="rId7"/>
                <a:stretch>
                  <a:fillRect l="-4286" t="-3046" r="-8571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Straight Arrow Connector 137"/>
          <p:cNvCxnSpPr/>
          <p:nvPr/>
        </p:nvCxnSpPr>
        <p:spPr>
          <a:xfrm flipV="1">
            <a:off x="5328307" y="1327778"/>
            <a:ext cx="960038" cy="81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472671" y="719910"/>
            <a:ext cx="2460123" cy="1769464"/>
            <a:chOff x="472671" y="719910"/>
            <a:chExt cx="2460123" cy="1769464"/>
          </a:xfrm>
        </p:grpSpPr>
        <p:grpSp>
          <p:nvGrpSpPr>
            <p:cNvPr id="142" name="Group 141"/>
            <p:cNvGrpSpPr/>
            <p:nvPr/>
          </p:nvGrpSpPr>
          <p:grpSpPr>
            <a:xfrm>
              <a:off x="846819" y="719910"/>
              <a:ext cx="2085975" cy="1769464"/>
              <a:chOff x="304800" y="1714424"/>
              <a:chExt cx="2940240" cy="3698081"/>
            </a:xfrm>
          </p:grpSpPr>
          <p:pic>
            <p:nvPicPr>
              <p:cNvPr id="143" name="Picture 2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1950" y="3390823"/>
                <a:ext cx="2171700" cy="17240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44" name="Straight Arrow Connector 143"/>
              <p:cNvCxnSpPr/>
              <p:nvPr/>
            </p:nvCxnSpPr>
            <p:spPr>
              <a:xfrm flipV="1">
                <a:off x="1504950" y="1714424"/>
                <a:ext cx="0" cy="25384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/>
              <p:cNvCxnSpPr/>
              <p:nvPr/>
            </p:nvCxnSpPr>
            <p:spPr>
              <a:xfrm flipV="1">
                <a:off x="304800" y="3314623"/>
                <a:ext cx="2940240" cy="15856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Arrow Connector 145"/>
              <p:cNvCxnSpPr/>
              <p:nvPr/>
            </p:nvCxnSpPr>
            <p:spPr>
              <a:xfrm>
                <a:off x="596900" y="3390823"/>
                <a:ext cx="2127250" cy="20216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Arrow Connector 147"/>
              <p:cNvCxnSpPr/>
              <p:nvPr/>
            </p:nvCxnSpPr>
            <p:spPr>
              <a:xfrm flipV="1">
                <a:off x="1504950" y="2983630"/>
                <a:ext cx="438150" cy="1269206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Isosceles Triangle 3"/>
            <p:cNvSpPr/>
            <p:nvPr/>
          </p:nvSpPr>
          <p:spPr>
            <a:xfrm rot="15330055">
              <a:off x="1525574" y="1737830"/>
              <a:ext cx="628998" cy="309647"/>
            </a:xfrm>
            <a:prstGeom prst="triangle">
              <a:avLst/>
            </a:prstGeom>
            <a:solidFill>
              <a:srgbClr val="41CFE7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Isosceles Triangle 83"/>
            <p:cNvSpPr/>
            <p:nvPr/>
          </p:nvSpPr>
          <p:spPr>
            <a:xfrm rot="13658395">
              <a:off x="1697489" y="1571760"/>
              <a:ext cx="358193" cy="425688"/>
            </a:xfrm>
            <a:prstGeom prst="triangle">
              <a:avLst/>
            </a:prstGeom>
            <a:solidFill>
              <a:srgbClr val="41CFE7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1682025" y="1754829"/>
                  <a:ext cx="397866" cy="2616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l-GR" sz="1100" dirty="0"/>
                          <m:t>α</m:t>
                        </m:r>
                        <m:r>
                          <m:rPr>
                            <m:nor/>
                          </m:rPr>
                          <a:rPr lang="en-US" sz="1100" baseline="-25000" dirty="0"/>
                          <m:t>tilt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2025" y="1754829"/>
                  <a:ext cx="397866" cy="26161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1928939" y="1481531"/>
                  <a:ext cx="380232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l-GR" sz="1000" dirty="0"/>
                          <m:t>β</m:t>
                        </m:r>
                        <m:r>
                          <m:rPr>
                            <m:nor/>
                          </m:rPr>
                          <a:rPr lang="en-US" sz="1000" baseline="-25000" dirty="0"/>
                          <m:t>tilt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8939" y="1481531"/>
                  <a:ext cx="380232" cy="246221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TextBox 102"/>
            <p:cNvSpPr txBox="1"/>
            <p:nvPr/>
          </p:nvSpPr>
          <p:spPr>
            <a:xfrm>
              <a:off x="472671" y="990908"/>
              <a:ext cx="109837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Mirror normal</a:t>
              </a:r>
            </a:p>
            <a:p>
              <a:r>
                <a:rPr lang="en-US" sz="1100" b="1" dirty="0"/>
                <a:t>direction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06127" y="2767964"/>
            <a:ext cx="2600700" cy="1769464"/>
            <a:chOff x="206127" y="2767964"/>
            <a:chExt cx="2600700" cy="1769464"/>
          </a:xfrm>
        </p:grpSpPr>
        <p:grpSp>
          <p:nvGrpSpPr>
            <p:cNvPr id="90" name="Group 89"/>
            <p:cNvGrpSpPr/>
            <p:nvPr/>
          </p:nvGrpSpPr>
          <p:grpSpPr>
            <a:xfrm>
              <a:off x="720852" y="2767964"/>
              <a:ext cx="2085975" cy="1769464"/>
              <a:chOff x="304800" y="1714424"/>
              <a:chExt cx="2940240" cy="3698081"/>
            </a:xfrm>
          </p:grpSpPr>
          <p:pic>
            <p:nvPicPr>
              <p:cNvPr id="92" name="Picture 2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1950" y="3390823"/>
                <a:ext cx="2171700" cy="17240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93" name="Straight Arrow Connector 92"/>
              <p:cNvCxnSpPr/>
              <p:nvPr/>
            </p:nvCxnSpPr>
            <p:spPr>
              <a:xfrm flipV="1">
                <a:off x="1504950" y="1714424"/>
                <a:ext cx="0" cy="25384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/>
              <p:nvPr/>
            </p:nvCxnSpPr>
            <p:spPr>
              <a:xfrm flipV="1">
                <a:off x="304800" y="3314623"/>
                <a:ext cx="2940240" cy="15856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/>
              <p:cNvCxnSpPr/>
              <p:nvPr/>
            </p:nvCxnSpPr>
            <p:spPr>
              <a:xfrm>
                <a:off x="596900" y="3390823"/>
                <a:ext cx="2127250" cy="20216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/>
              <p:cNvCxnSpPr/>
              <p:nvPr/>
            </p:nvCxnSpPr>
            <p:spPr>
              <a:xfrm flipV="1">
                <a:off x="1504950" y="2500197"/>
                <a:ext cx="615704" cy="175264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Isosceles Triangle 98"/>
            <p:cNvSpPr/>
            <p:nvPr/>
          </p:nvSpPr>
          <p:spPr>
            <a:xfrm rot="15330055">
              <a:off x="1399607" y="3785884"/>
              <a:ext cx="628998" cy="309647"/>
            </a:xfrm>
            <a:prstGeom prst="triangle">
              <a:avLst/>
            </a:prstGeom>
            <a:solidFill>
              <a:srgbClr val="41CFE7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Isosceles Triangle 99"/>
            <p:cNvSpPr/>
            <p:nvPr/>
          </p:nvSpPr>
          <p:spPr>
            <a:xfrm rot="13658395">
              <a:off x="1571522" y="3619814"/>
              <a:ext cx="358193" cy="425688"/>
            </a:xfrm>
            <a:prstGeom prst="triangle">
              <a:avLst/>
            </a:prstGeom>
            <a:solidFill>
              <a:srgbClr val="41CFE7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Rectangle 100"/>
                <p:cNvSpPr/>
                <p:nvPr/>
              </p:nvSpPr>
              <p:spPr>
                <a:xfrm>
                  <a:off x="1556058" y="3802883"/>
                  <a:ext cx="336952" cy="2616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l-GR" sz="1100" dirty="0"/>
                          <m:t>α</m:t>
                        </m:r>
                        <m:r>
                          <m:rPr>
                            <m:nor/>
                          </m:rPr>
                          <a:rPr lang="en-US" sz="1100" b="0" i="0" dirty="0" smtClean="0"/>
                          <m:t>i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101" name="Rectangle 10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6058" y="3802883"/>
                  <a:ext cx="336952" cy="261610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Rectangle 101"/>
                <p:cNvSpPr/>
                <p:nvPr/>
              </p:nvSpPr>
              <p:spPr>
                <a:xfrm>
                  <a:off x="1802972" y="3529585"/>
                  <a:ext cx="322524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l-GR" sz="1000" dirty="0"/>
                          <m:t>β</m:t>
                        </m:r>
                        <m:r>
                          <m:rPr>
                            <m:nor/>
                          </m:rPr>
                          <a:rPr lang="en-US" sz="1000" b="0" i="0" dirty="0" smtClean="0"/>
                          <m:t>i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02" name="Rectangle 10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2972" y="3529585"/>
                  <a:ext cx="322524" cy="246221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TextBox 103"/>
            <p:cNvSpPr txBox="1"/>
            <p:nvPr/>
          </p:nvSpPr>
          <p:spPr>
            <a:xfrm>
              <a:off x="206127" y="2966899"/>
              <a:ext cx="1029449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Incident ray</a:t>
              </a:r>
            </a:p>
            <a:p>
              <a:r>
                <a:rPr lang="en-US" sz="1100" b="1" dirty="0"/>
                <a:t>(plane wave)</a:t>
              </a:r>
            </a:p>
            <a:p>
              <a:r>
                <a:rPr lang="en-US" sz="1100" b="1" dirty="0"/>
                <a:t>direction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1323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D87565-1749-40E6-AAFA-51E067A0D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102" y="487337"/>
            <a:ext cx="4185851" cy="186572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878FAB3-7597-4FF4-9F86-3969F6F04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System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97955-BD68-4D12-A25D-2AA8B5A28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58" y="1036837"/>
            <a:ext cx="3610045" cy="167843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400" dirty="0">
                <a:latin typeface="+mj-lt"/>
              </a:rPr>
              <a:t>Spherical Coordinate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D9428-BA32-4C07-8FB3-8CA8E5D46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667503" y="4442792"/>
            <a:ext cx="2133600" cy="154782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A23CF-AA30-4A18-B744-605C3E9DBF07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DD1E17B-C5A1-4515-BED9-45497C096972}"/>
              </a:ext>
            </a:extLst>
          </p:cNvPr>
          <p:cNvCxnSpPr/>
          <p:nvPr/>
        </p:nvCxnSpPr>
        <p:spPr>
          <a:xfrm>
            <a:off x="3862391" y="2439702"/>
            <a:ext cx="530780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34A506D-6875-4306-9F22-5525EF5EB70B}"/>
                  </a:ext>
                </a:extLst>
              </p:cNvPr>
              <p:cNvSpPr/>
              <p:nvPr/>
            </p:nvSpPr>
            <p:spPr>
              <a:xfrm>
                <a:off x="484199" y="3435990"/>
                <a:ext cx="242547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200" i="1" dirty="0" smtClean="0">
                          <a:latin typeface="Cambria Math"/>
                          <a:ea typeface="Cambria Math"/>
                        </a:rPr>
                        <m:t>Φ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𝑎𝑥𝑖𝑠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−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𝑖𝑙𝑙𝑢𝑚𝑖𝑛𝑎𝑡𝑖𝑜𝑛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𝑑𝑖𝑟𝑒𝑐𝑡𝑖𝑜𝑛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34A506D-6875-4306-9F22-5525EF5EB7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99" y="3435990"/>
                <a:ext cx="2425471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C1FAD4E-EF99-45D6-AE8B-FADD48C3D32D}"/>
                  </a:ext>
                </a:extLst>
              </p:cNvPr>
              <p:cNvSpPr/>
              <p:nvPr/>
            </p:nvSpPr>
            <p:spPr>
              <a:xfrm>
                <a:off x="484199" y="3233417"/>
                <a:ext cx="27086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00" i="1" dirty="0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𝑎𝑥𝑖𝑠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−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𝑡𝑖𝑙𝑡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𝑎𝑛𝑑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𝑖𝑙𝑙𝑢𝑚𝑖𝑛𝑎𝑡𝑖𝑜𝑛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𝑎𝑛𝑔𝑙𝑒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C1FAD4E-EF99-45D6-AE8B-FADD48C3D3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99" y="3233417"/>
                <a:ext cx="2708690" cy="27699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8CE5C73-48A9-421B-AEC1-322B0ABB0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99" y="1266657"/>
            <a:ext cx="2524117" cy="20024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D844BA-8CC7-437E-BF83-9849B456E38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703" b="4889"/>
          <a:stretch/>
        </p:blipFill>
        <p:spPr>
          <a:xfrm>
            <a:off x="3962635" y="2502333"/>
            <a:ext cx="4137331" cy="21443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28BC546-21B9-49D8-BD7F-E088404FDEB5}"/>
                  </a:ext>
                </a:extLst>
              </p:cNvPr>
              <p:cNvSpPr/>
              <p:nvPr/>
            </p:nvSpPr>
            <p:spPr>
              <a:xfrm>
                <a:off x="7173476" y="28950"/>
                <a:ext cx="1062342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𝑡𝑖𝑙𝑡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sz="1600" dirty="0"/>
                  <a:t>= 12º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28BC546-21B9-49D8-BD7F-E088404FDE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476" y="28950"/>
                <a:ext cx="1062342" cy="362984"/>
              </a:xfrm>
              <a:prstGeom prst="rect">
                <a:avLst/>
              </a:prstGeom>
              <a:blipFill>
                <a:blip r:embed="rId7"/>
                <a:stretch>
                  <a:fillRect r="-1149" b="-22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6CAC448-D3E3-44A3-8DB1-D03BF3C17D4F}"/>
                  </a:ext>
                </a:extLst>
              </p:cNvPr>
              <p:cNvSpPr/>
              <p:nvPr/>
            </p:nvSpPr>
            <p:spPr>
              <a:xfrm>
                <a:off x="7119699" y="429094"/>
                <a:ext cx="1634807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𝑖𝑙𝑙𝑢𝑚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𝑎𝑛𝑔𝑙𝑒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sz="1600" dirty="0"/>
                  <a:t>= 24º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6CAC448-D3E3-44A3-8DB1-D03BF3C17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699" y="429094"/>
                <a:ext cx="1634807" cy="362984"/>
              </a:xfrm>
              <a:prstGeom prst="rect">
                <a:avLst/>
              </a:prstGeom>
              <a:blipFill>
                <a:blip r:embed="rId8"/>
                <a:stretch>
                  <a:fillRect r="-37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8AF9E8-E1E0-40A1-BB85-9552E3898376}"/>
                  </a:ext>
                </a:extLst>
              </p:cNvPr>
              <p:cNvSpPr/>
              <p:nvPr/>
            </p:nvSpPr>
            <p:spPr>
              <a:xfrm>
                <a:off x="7145645" y="2609086"/>
                <a:ext cx="16941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𝑖𝑙𝑙𝑢𝑚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𝑎𝑛𝑔𝑙𝑒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sz="1600" dirty="0"/>
                  <a:t>= 34º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8AF9E8-E1E0-40A1-BB85-9552E3898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645" y="2609086"/>
                <a:ext cx="1694118" cy="369332"/>
              </a:xfrm>
              <a:prstGeom prst="rect">
                <a:avLst/>
              </a:prstGeom>
              <a:blipFill>
                <a:blip r:embed="rId9"/>
                <a:stretch>
                  <a:fillRect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77AFF19-8BFA-4818-94EF-F0C7FB3A4202}"/>
                  </a:ext>
                </a:extLst>
              </p:cNvPr>
              <p:cNvSpPr/>
              <p:nvPr/>
            </p:nvSpPr>
            <p:spPr>
              <a:xfrm>
                <a:off x="7173476" y="2368138"/>
                <a:ext cx="1062342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i="1" dirty="0" smtClean="0"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𝑡𝑖𝑙𝑡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sz="1600" dirty="0"/>
                  <a:t>= 17º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77AFF19-8BFA-4818-94EF-F0C7FB3A42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476" y="2368138"/>
                <a:ext cx="1062342" cy="362984"/>
              </a:xfrm>
              <a:prstGeom prst="rect">
                <a:avLst/>
              </a:prstGeom>
              <a:blipFill>
                <a:blip r:embed="rId10"/>
                <a:stretch>
                  <a:fillRect r="-1149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1E6B625-F52F-48F3-A47A-950C46F9A1BD}"/>
                  </a:ext>
                </a:extLst>
              </p:cNvPr>
              <p:cNvSpPr/>
              <p:nvPr/>
            </p:nvSpPr>
            <p:spPr>
              <a:xfrm>
                <a:off x="7078009" y="847390"/>
                <a:ext cx="1979966" cy="3629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/>
                        <a:ea typeface="Cambria Math"/>
                      </a:rPr>
                      <m:t>Φ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𝑖𝑙𝑙𝑢𝑚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𝑑𝑖𝑟𝑒𝑐𝑡𝑖𝑜𝑛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sz="1600" dirty="0"/>
                  <a:t>= -45</a:t>
                </a:r>
                <a:r>
                  <a:rPr lang="en-US" sz="1400" dirty="0"/>
                  <a:t>º</a:t>
                </a:r>
                <a:endParaRPr lang="en-US" sz="2400" baseline="-250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1E6B625-F52F-48F3-A47A-950C46F9A1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009" y="847390"/>
                <a:ext cx="1979966" cy="362984"/>
              </a:xfrm>
              <a:prstGeom prst="rect">
                <a:avLst/>
              </a:prstGeom>
              <a:blipFill>
                <a:blip r:embed="rId1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32AB67-51EF-4D3F-8997-216E945DB9E9}"/>
                  </a:ext>
                </a:extLst>
              </p:cNvPr>
              <p:cNvSpPr/>
              <p:nvPr/>
            </p:nvSpPr>
            <p:spPr>
              <a:xfrm>
                <a:off x="7119699" y="2895159"/>
                <a:ext cx="19895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/>
                        <a:ea typeface="Cambria Math"/>
                      </a:rPr>
                      <m:t>Φ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𝑖𝑙𝑙𝑢𝑚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ea typeface="Cambria Math"/>
                      </a:rPr>
                      <m:t>𝑑𝑖𝑟𝑒𝑐𝑡𝑖𝑜𝑛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sz="1600" dirty="0"/>
                  <a:t>= -90º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32AB67-51EF-4D3F-8997-216E945DB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699" y="2895159"/>
                <a:ext cx="1989584" cy="369332"/>
              </a:xfrm>
              <a:prstGeom prst="rect">
                <a:avLst/>
              </a:prstGeom>
              <a:blipFill>
                <a:blip r:embed="rId12"/>
                <a:stretch>
                  <a:fillRect r="-613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5752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C4440-0123-4ACA-9255-D6593B152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72489" y="4543325"/>
            <a:ext cx="2133600" cy="154782"/>
          </a:xfrm>
        </p:spPr>
        <p:txBody>
          <a:bodyPr/>
          <a:lstStyle/>
          <a:p>
            <a:pPr>
              <a:defRPr/>
            </a:pPr>
            <a:fld id="{2B97888F-6AF7-4263-B69D-592D8C33BAC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1CB60D-B3DD-4620-8BAA-A0C0B5CC74C5}"/>
              </a:ext>
            </a:extLst>
          </p:cNvPr>
          <p:cNvGrpSpPr/>
          <p:nvPr/>
        </p:nvGrpSpPr>
        <p:grpSpPr>
          <a:xfrm>
            <a:off x="2739176" y="1491093"/>
            <a:ext cx="2126509" cy="2224588"/>
            <a:chOff x="304800" y="1714424"/>
            <a:chExt cx="2940240" cy="3698081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FC3AD926-4278-4B4E-859C-3E8636739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950" y="3390823"/>
              <a:ext cx="2171700" cy="1724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1ED3E96-1D34-4656-8952-3C6A60829825}"/>
                </a:ext>
              </a:extLst>
            </p:cNvPr>
            <p:cNvCxnSpPr/>
            <p:nvPr/>
          </p:nvCxnSpPr>
          <p:spPr>
            <a:xfrm flipV="1">
              <a:off x="1504950" y="1714424"/>
              <a:ext cx="0" cy="253841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AABB277-D815-4541-A108-2C9E0A47492E}"/>
                </a:ext>
              </a:extLst>
            </p:cNvPr>
            <p:cNvCxnSpPr/>
            <p:nvPr/>
          </p:nvCxnSpPr>
          <p:spPr>
            <a:xfrm flipV="1">
              <a:off x="304800" y="3314623"/>
              <a:ext cx="2940240" cy="1585633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B7443AB-B550-4E76-AE72-8CF935641A8B}"/>
                </a:ext>
              </a:extLst>
            </p:cNvPr>
            <p:cNvCxnSpPr/>
            <p:nvPr/>
          </p:nvCxnSpPr>
          <p:spPr>
            <a:xfrm>
              <a:off x="596900" y="3390823"/>
              <a:ext cx="2127250" cy="202168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5DF12AA-ED1F-4FCD-86FA-7E7A8FA8C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34949" y="2468495"/>
              <a:ext cx="368392" cy="1808477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A45A36-99DD-4B35-B5E4-FD2B61D9AB5B}"/>
              </a:ext>
            </a:extLst>
          </p:cNvPr>
          <p:cNvCxnSpPr>
            <a:cxnSpLocks/>
          </p:cNvCxnSpPr>
          <p:nvPr/>
        </p:nvCxnSpPr>
        <p:spPr>
          <a:xfrm flipH="1" flipV="1">
            <a:off x="2929312" y="2227423"/>
            <a:ext cx="673992" cy="789143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022773-A914-489C-B5E7-7CC62964C8B4}"/>
              </a:ext>
            </a:extLst>
          </p:cNvPr>
          <p:cNvCxnSpPr>
            <a:cxnSpLocks/>
          </p:cNvCxnSpPr>
          <p:nvPr/>
        </p:nvCxnSpPr>
        <p:spPr>
          <a:xfrm flipH="1">
            <a:off x="3611051" y="1912976"/>
            <a:ext cx="318965" cy="1076894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C5D4E28-0443-4DF9-91A7-FBA77BEA170C}"/>
                  </a:ext>
                </a:extLst>
              </p:cNvPr>
              <p:cNvSpPr/>
              <p:nvPr/>
            </p:nvSpPr>
            <p:spPr>
              <a:xfrm>
                <a:off x="2067894" y="1782258"/>
                <a:ext cx="12013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Illumination</a:t>
                </a:r>
                <a:r>
                  <a:rPr lang="en-US" sz="1200" dirty="0">
                    <a:ea typeface="Cambria Math"/>
                  </a:rPr>
                  <a:t> </a:t>
                </a:r>
                <a:endParaRPr lang="en-US" sz="1200" i="1" dirty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200" i="1" dirty="0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=24⁰</m:t>
                      </m:r>
                      <m:r>
                        <a:rPr lang="el-GR" sz="1200" i="1" dirty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C5D4E28-0443-4DF9-91A7-FBA77BEA17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894" y="1782258"/>
                <a:ext cx="12013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45A9402-BE69-4951-A24F-1801E93A0740}"/>
                  </a:ext>
                </a:extLst>
              </p:cNvPr>
              <p:cNvSpPr/>
              <p:nvPr/>
            </p:nvSpPr>
            <p:spPr>
              <a:xfrm>
                <a:off x="4119392" y="1991663"/>
                <a:ext cx="278069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400" i="1" dirty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45A9402-BE69-4951-A24F-1801E93A0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392" y="1991663"/>
                <a:ext cx="278069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6F1DBF6-EFBF-49F8-A3F9-4FEFDDE29254}"/>
                  </a:ext>
                </a:extLst>
              </p:cNvPr>
              <p:cNvSpPr/>
              <p:nvPr/>
            </p:nvSpPr>
            <p:spPr>
              <a:xfrm>
                <a:off x="2296027" y="1673270"/>
                <a:ext cx="150640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𝑂𝑛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: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𝑇𝑖𝑙𝑡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l-GR" sz="1200" i="1" dirty="0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=12⁰</m:t>
                      </m:r>
                      <m:r>
                        <a:rPr lang="el-GR" sz="1200" i="1" dirty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6F1DBF6-EFBF-49F8-A3F9-4FEFDDE29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027" y="1673270"/>
                <a:ext cx="1506403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A47CEFE-38A4-415D-BCA2-6C7AF0D097F6}"/>
                  </a:ext>
                </a:extLst>
              </p:cNvPr>
              <p:cNvSpPr/>
              <p:nvPr/>
            </p:nvSpPr>
            <p:spPr>
              <a:xfrm>
                <a:off x="3594471" y="1662096"/>
                <a:ext cx="16626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𝑂𝑓𝑓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: </m:t>
                      </m:r>
                      <m:r>
                        <a:rPr lang="el-GR" sz="1200" i="1" dirty="0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=−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12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  <a:ea typeface="Cambria Math"/>
                </a:endParaRPr>
              </a:p>
              <a:p>
                <a:r>
                  <a:rPr lang="en-US" sz="1200" dirty="0">
                    <a:ea typeface="Cambria Math"/>
                  </a:rPr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1" dirty="0">
                        <a:latin typeface="Cambria Math"/>
                        <a:ea typeface="Cambria Math"/>
                      </a:rPr>
                      <m:t>Φ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/>
                      </a:rPr>
                      <m:t>−45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/>
                      </a:rPr>
                      <m:t>⁰</m:t>
                    </m:r>
                    <m:r>
                      <a:rPr lang="el-GR" sz="1200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A47CEFE-38A4-415D-BCA2-6C7AF0D097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71" y="1662096"/>
                <a:ext cx="166266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B7DAA48-842C-4FD5-BCEF-F6FC66930048}"/>
                  </a:ext>
                </a:extLst>
              </p:cNvPr>
              <p:cNvSpPr/>
              <p:nvPr/>
            </p:nvSpPr>
            <p:spPr>
              <a:xfrm>
                <a:off x="2000939" y="2568488"/>
                <a:ext cx="10819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Illumination</a:t>
                </a:r>
                <a:r>
                  <a:rPr lang="en-US" sz="1200" dirty="0">
                    <a:ea typeface="Cambria Math"/>
                  </a:rPr>
                  <a:t> </a:t>
                </a:r>
                <a:endParaRPr lang="en-US" sz="1200" i="1" dirty="0">
                  <a:latin typeface="Cambria Math"/>
                  <a:ea typeface="Cambria Math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200" i="1" dirty="0" smtClean="0">
                          <a:latin typeface="Cambria Math"/>
                          <a:ea typeface="Cambria Math"/>
                        </a:rPr>
                        <m:t>Φ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=−45⁰</m:t>
                      </m:r>
                      <m:r>
                        <a:rPr lang="el-GR" sz="1200" i="1" dirty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B7DAA48-842C-4FD5-BCEF-F6FC669300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939" y="2568488"/>
                <a:ext cx="108197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166E70-C8B2-4C87-8090-997C88246135}"/>
              </a:ext>
            </a:extLst>
          </p:cNvPr>
          <p:cNvCxnSpPr>
            <a:cxnSpLocks/>
          </p:cNvCxnSpPr>
          <p:nvPr/>
        </p:nvCxnSpPr>
        <p:spPr>
          <a:xfrm>
            <a:off x="2349102" y="3016566"/>
            <a:ext cx="1245369" cy="784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5" name="Title 1">
            <a:extLst>
              <a:ext uri="{FF2B5EF4-FFF2-40B4-BE49-F238E27FC236}">
                <a16:creationId xmlns:a16="http://schemas.microsoft.com/office/drawing/2014/main" id="{37E09B0E-C756-4076-90CB-8380968B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75" y="107163"/>
            <a:ext cx="8458200" cy="610791"/>
          </a:xfrm>
        </p:spPr>
        <p:txBody>
          <a:bodyPr/>
          <a:lstStyle/>
          <a:p>
            <a:r>
              <a:rPr lang="en-US" dirty="0"/>
              <a:t>Coordinate System-Torsional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BF54156-3D2D-421F-B7A1-CF271426F581}"/>
              </a:ext>
            </a:extLst>
          </p:cNvPr>
          <p:cNvGrpSpPr>
            <a:grpSpLocks noChangeAspect="1"/>
          </p:cNvGrpSpPr>
          <p:nvPr/>
        </p:nvGrpSpPr>
        <p:grpSpPr>
          <a:xfrm>
            <a:off x="181572" y="1092787"/>
            <a:ext cx="1785571" cy="2813494"/>
            <a:chOff x="425211" y="1402663"/>
            <a:chExt cx="2409448" cy="3796528"/>
          </a:xfrm>
        </p:grpSpPr>
        <p:grpSp>
          <p:nvGrpSpPr>
            <p:cNvPr id="57" name="Group 34">
              <a:extLst>
                <a:ext uri="{FF2B5EF4-FFF2-40B4-BE49-F238E27FC236}">
                  <a16:creationId xmlns:a16="http://schemas.microsoft.com/office/drawing/2014/main" id="{6AE7D8CB-7F0B-41AB-BB76-26629F0E1294}"/>
                </a:ext>
              </a:extLst>
            </p:cNvPr>
            <p:cNvGrpSpPr/>
            <p:nvPr/>
          </p:nvGrpSpPr>
          <p:grpSpPr>
            <a:xfrm>
              <a:off x="707168" y="1545486"/>
              <a:ext cx="1570075" cy="1953094"/>
              <a:chOff x="707168" y="2002992"/>
              <a:chExt cx="1570075" cy="1953094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9785876E-CC7C-4AFF-B8D8-F12D387201F9}"/>
                  </a:ext>
                </a:extLst>
              </p:cNvPr>
              <p:cNvCxnSpPr/>
              <p:nvPr/>
            </p:nvCxnSpPr>
            <p:spPr bwMode="auto">
              <a:xfrm flipV="1">
                <a:off x="823001" y="2331732"/>
                <a:ext cx="1280146" cy="1280146"/>
              </a:xfrm>
              <a:prstGeom prst="line">
                <a:avLst/>
              </a:prstGeom>
              <a:gradFill rotWithShape="1">
                <a:gsLst>
                  <a:gs pos="0">
                    <a:schemeClr val="tx1"/>
                  </a:gs>
                  <a:gs pos="100000">
                    <a:schemeClr val="tx1">
                      <a:gamma/>
                      <a:shade val="0"/>
                      <a:invGamma/>
                      <a:alpha val="70000"/>
                    </a:schemeClr>
                  </a:gs>
                </a:gsLst>
                <a:lin ang="5400000" scaled="1"/>
              </a:gra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E6CA8A1-5E5D-4E48-A39E-307AEF09D34A}"/>
                  </a:ext>
                </a:extLst>
              </p:cNvPr>
              <p:cNvSpPr/>
              <p:nvPr/>
            </p:nvSpPr>
            <p:spPr bwMode="auto">
              <a:xfrm>
                <a:off x="1005879" y="2514610"/>
                <a:ext cx="914400" cy="91439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700" b="1">
                  <a:solidFill>
                    <a:srgbClr val="FFFFFF"/>
                  </a:solidFill>
                  <a:cs typeface="+mn-cs"/>
                </a:endParaRPr>
              </a:p>
            </p:txBody>
          </p:sp>
          <p:sp>
            <p:nvSpPr>
              <p:cNvPr id="68" name="Right Arrow 17">
                <a:extLst>
                  <a:ext uri="{FF2B5EF4-FFF2-40B4-BE49-F238E27FC236}">
                    <a16:creationId xmlns:a16="http://schemas.microsoft.com/office/drawing/2014/main" id="{FA79F3F2-D715-4BF3-B173-CA80ED0ACE03}"/>
                  </a:ext>
                </a:extLst>
              </p:cNvPr>
              <p:cNvSpPr/>
              <p:nvPr/>
            </p:nvSpPr>
            <p:spPr bwMode="auto">
              <a:xfrm rot="2735871">
                <a:off x="539530" y="2170630"/>
                <a:ext cx="609593" cy="274317"/>
              </a:xfrm>
              <a:prstGeom prst="rightArrow">
                <a:avLst/>
              </a:prstGeom>
              <a:solidFill>
                <a:srgbClr val="FFFF00"/>
              </a:soli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700" b="1">
                  <a:solidFill>
                    <a:srgbClr val="FFFFFF"/>
                  </a:solidFill>
                  <a:cs typeface="+mn-cs"/>
                </a:endParaRPr>
              </a:p>
            </p:txBody>
          </p:sp>
          <p:sp>
            <p:nvSpPr>
              <p:cNvPr id="69" name="Right Arrow 18">
                <a:extLst>
                  <a:ext uri="{FF2B5EF4-FFF2-40B4-BE49-F238E27FC236}">
                    <a16:creationId xmlns:a16="http://schemas.microsoft.com/office/drawing/2014/main" id="{3478ACAE-C700-4B6F-889F-90DB2E634449}"/>
                  </a:ext>
                </a:extLst>
              </p:cNvPr>
              <p:cNvSpPr/>
              <p:nvPr/>
            </p:nvSpPr>
            <p:spPr bwMode="auto">
              <a:xfrm rot="2735871">
                <a:off x="1835288" y="3514131"/>
                <a:ext cx="609593" cy="274317"/>
              </a:xfrm>
              <a:prstGeom prst="rightArrow">
                <a:avLst/>
              </a:prstGeom>
              <a:solidFill>
                <a:srgbClr val="FFFF00"/>
              </a:soli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700" b="1">
                  <a:solidFill>
                    <a:srgbClr val="FFFFFF"/>
                  </a:solidFill>
                  <a:cs typeface="+mn-cs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36B0FAD-1C39-46B1-B5FD-9772CD718C91}"/>
                </a:ext>
              </a:extLst>
            </p:cNvPr>
            <p:cNvSpPr txBox="1"/>
            <p:nvPr/>
          </p:nvSpPr>
          <p:spPr>
            <a:xfrm>
              <a:off x="640123" y="1402663"/>
              <a:ext cx="1188707" cy="545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000000"/>
                  </a:solidFill>
                  <a:cs typeface="+mn-cs"/>
                </a:rPr>
                <a:t>Incoming Light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6135080-6E4A-4C4E-8395-7B9F7EC58595}"/>
                </a:ext>
              </a:extLst>
            </p:cNvPr>
            <p:cNvSpPr txBox="1"/>
            <p:nvPr/>
          </p:nvSpPr>
          <p:spPr>
            <a:xfrm>
              <a:off x="1645952" y="3384479"/>
              <a:ext cx="1188707" cy="545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000000"/>
                  </a:solidFill>
                  <a:cs typeface="+mn-cs"/>
                </a:rPr>
                <a:t>Off-State Light</a:t>
              </a:r>
            </a:p>
          </p:txBody>
        </p:sp>
        <p:sp>
          <p:nvSpPr>
            <p:cNvPr id="60" name="Rectangular Callout 21">
              <a:extLst>
                <a:ext uri="{FF2B5EF4-FFF2-40B4-BE49-F238E27FC236}">
                  <a16:creationId xmlns:a16="http://schemas.microsoft.com/office/drawing/2014/main" id="{5456EF4F-527B-4A8D-8B69-DCFCDA5223F7}"/>
                </a:ext>
              </a:extLst>
            </p:cNvPr>
            <p:cNvSpPr/>
            <p:nvPr/>
          </p:nvSpPr>
          <p:spPr bwMode="auto">
            <a:xfrm>
              <a:off x="429661" y="3411302"/>
              <a:ext cx="1152435" cy="335762"/>
            </a:xfrm>
            <a:prstGeom prst="wedgeRectCallout">
              <a:avLst>
                <a:gd name="adj1" fmla="val -11752"/>
                <a:gd name="adj2" fmla="val -120811"/>
              </a:avLst>
            </a:prstGeom>
            <a:noFill/>
            <a:ln w="28575" cap="flat" cmpd="sng" algn="ctr">
              <a:solidFill>
                <a:srgbClr val="8C8C8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000000"/>
                  </a:solidFill>
                  <a:cs typeface="+mn-cs"/>
                </a:rPr>
                <a:t>Hinge Axis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25DB23F-3C55-4392-B9A6-8A9A2207EBAA}"/>
                </a:ext>
              </a:extLst>
            </p:cNvPr>
            <p:cNvSpPr/>
            <p:nvPr/>
          </p:nvSpPr>
          <p:spPr bwMode="auto">
            <a:xfrm>
              <a:off x="1102809" y="3812100"/>
              <a:ext cx="548635" cy="54863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8C8C8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cs typeface="+mn-cs"/>
                </a:rPr>
                <a:t>ON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3DD7160-8F7B-4B8A-9D54-A912CC2E4ACB}"/>
                </a:ext>
              </a:extLst>
            </p:cNvPr>
            <p:cNvSpPr/>
            <p:nvPr/>
          </p:nvSpPr>
          <p:spPr bwMode="auto">
            <a:xfrm>
              <a:off x="1496148" y="4225237"/>
              <a:ext cx="548635" cy="5486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8C8C8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cs typeface="+mn-cs"/>
                </a:rPr>
                <a:t>FLAT	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B2C0620-5D43-4DA9-8C5C-C891A745895C}"/>
                </a:ext>
              </a:extLst>
            </p:cNvPr>
            <p:cNvSpPr/>
            <p:nvPr/>
          </p:nvSpPr>
          <p:spPr bwMode="auto">
            <a:xfrm>
              <a:off x="1875153" y="4650557"/>
              <a:ext cx="548635" cy="54863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28575" cap="flat" cmpd="sng" algn="ctr">
              <a:solidFill>
                <a:srgbClr val="8C8C8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cs typeface="+mn-cs"/>
                </a:rPr>
                <a:t>OFF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9009CB4-C3E5-4519-AADF-244D9E4E5F0F}"/>
                </a:ext>
              </a:extLst>
            </p:cNvPr>
            <p:cNvSpPr txBox="1"/>
            <p:nvPr/>
          </p:nvSpPr>
          <p:spPr>
            <a:xfrm>
              <a:off x="425211" y="4377748"/>
              <a:ext cx="1188707" cy="545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000000"/>
                  </a:solidFill>
                  <a:cs typeface="+mn-cs"/>
                </a:rPr>
                <a:t>Pupil Diagrams</a:t>
              </a:r>
            </a:p>
          </p:txBody>
        </p:sp>
        <p:sp>
          <p:nvSpPr>
            <p:cNvPr id="65" name="Curved Right Arrow 57">
              <a:extLst>
                <a:ext uri="{FF2B5EF4-FFF2-40B4-BE49-F238E27FC236}">
                  <a16:creationId xmlns:a16="http://schemas.microsoft.com/office/drawing/2014/main" id="{72D99444-15E8-48A1-A1A8-633A6EA95EC8}"/>
                </a:ext>
              </a:extLst>
            </p:cNvPr>
            <p:cNvSpPr/>
            <p:nvPr/>
          </p:nvSpPr>
          <p:spPr bwMode="auto">
            <a:xfrm rot="3162186">
              <a:off x="1894548" y="1753464"/>
              <a:ext cx="314362" cy="320940"/>
            </a:xfrm>
            <a:prstGeom prst="curvedRightArrow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tx1">
                    <a:gamma/>
                    <a:shade val="0"/>
                    <a:invGamma/>
                    <a:alpha val="70000"/>
                  </a:schemeClr>
                </a:gs>
              </a:gsLst>
              <a:lin ang="5400000" scaled="1"/>
            </a:gradFill>
            <a:ln w="28575" cap="flat" cmpd="sng" algn="ctr">
              <a:solidFill>
                <a:srgbClr val="8C8C8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700" b="1">
                <a:solidFill>
                  <a:srgbClr val="FFFFFF"/>
                </a:solidFill>
                <a:cs typeface="+mn-cs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979AC007-5CEF-4F0B-A748-9442FF42AA16}"/>
              </a:ext>
            </a:extLst>
          </p:cNvPr>
          <p:cNvSpPr txBox="1"/>
          <p:nvPr/>
        </p:nvSpPr>
        <p:spPr>
          <a:xfrm>
            <a:off x="5385153" y="2799320"/>
            <a:ext cx="166266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Mirror On State</a:t>
            </a:r>
          </a:p>
          <a:p>
            <a:r>
              <a:rPr lang="el-GR" sz="1400" dirty="0"/>
              <a:t>θ</a:t>
            </a:r>
            <a:r>
              <a:rPr lang="en-US" sz="1400" dirty="0"/>
              <a:t> = 12⁰, </a:t>
            </a:r>
            <a:r>
              <a:rPr lang="el-GR" sz="1400" dirty="0"/>
              <a:t>Φ</a:t>
            </a:r>
            <a:r>
              <a:rPr lang="en-US" sz="1400" dirty="0"/>
              <a:t> = -45⁰</a:t>
            </a:r>
          </a:p>
          <a:p>
            <a:endParaRPr lang="en-US" sz="500" dirty="0"/>
          </a:p>
          <a:p>
            <a:r>
              <a:rPr lang="en-US" sz="1400" dirty="0"/>
              <a:t>Illumination</a:t>
            </a:r>
          </a:p>
          <a:p>
            <a:r>
              <a:rPr lang="el-GR" sz="1400" dirty="0"/>
              <a:t>θ</a:t>
            </a:r>
            <a:r>
              <a:rPr lang="en-US" sz="1400" dirty="0"/>
              <a:t> = 24⁰, </a:t>
            </a:r>
            <a:r>
              <a:rPr lang="el-GR" sz="1400" dirty="0"/>
              <a:t>Φ</a:t>
            </a:r>
            <a:r>
              <a:rPr lang="en-US" sz="1400" dirty="0"/>
              <a:t> = -45⁰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C5EFF9-40CA-4CB4-B668-2AF5219EEFF3}"/>
              </a:ext>
            </a:extLst>
          </p:cNvPr>
          <p:cNvSpPr txBox="1"/>
          <p:nvPr/>
        </p:nvSpPr>
        <p:spPr>
          <a:xfrm>
            <a:off x="7380115" y="2796031"/>
            <a:ext cx="166266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Mirror Off State</a:t>
            </a:r>
          </a:p>
          <a:p>
            <a:r>
              <a:rPr lang="el-GR" sz="1400" dirty="0"/>
              <a:t>θ</a:t>
            </a:r>
            <a:r>
              <a:rPr lang="en-US" sz="1400" dirty="0"/>
              <a:t> = -12⁰, </a:t>
            </a:r>
            <a:r>
              <a:rPr lang="el-GR" sz="1400" dirty="0"/>
              <a:t>Φ</a:t>
            </a:r>
            <a:r>
              <a:rPr lang="en-US" sz="1400" dirty="0"/>
              <a:t> = -45⁰</a:t>
            </a:r>
          </a:p>
          <a:p>
            <a:endParaRPr lang="en-US" sz="500" dirty="0"/>
          </a:p>
          <a:p>
            <a:r>
              <a:rPr lang="en-US" sz="1400" dirty="0"/>
              <a:t>Illumination</a:t>
            </a:r>
          </a:p>
          <a:p>
            <a:r>
              <a:rPr lang="el-GR" sz="1400" dirty="0"/>
              <a:t>θ</a:t>
            </a:r>
            <a:r>
              <a:rPr lang="en-US" sz="1400" dirty="0"/>
              <a:t> = 24⁰, </a:t>
            </a:r>
            <a:r>
              <a:rPr lang="el-GR" sz="1400" dirty="0"/>
              <a:t>Φ</a:t>
            </a:r>
            <a:r>
              <a:rPr lang="en-US" sz="1400" dirty="0"/>
              <a:t> = -45⁰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52EBD4B6-563E-4EF3-AAD0-B4C3EE67DAB5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014" y="1063184"/>
            <a:ext cx="1930228" cy="1740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EA3764-530E-4F26-B49C-2442844C2C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8256" y="1069301"/>
            <a:ext cx="1980705" cy="174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96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6FE5-B29B-4473-8C0B-260E44597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69" y="118442"/>
            <a:ext cx="8458200" cy="610791"/>
          </a:xfrm>
        </p:spPr>
        <p:txBody>
          <a:bodyPr/>
          <a:lstStyle/>
          <a:p>
            <a:r>
              <a:rPr lang="en-US" dirty="0"/>
              <a:t>Coordinate System – Cantilever Design - TRP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C4440-0123-4ACA-9255-D6593B152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1CB60D-B3DD-4620-8BAA-A0C0B5CC74C5}"/>
              </a:ext>
            </a:extLst>
          </p:cNvPr>
          <p:cNvGrpSpPr/>
          <p:nvPr/>
        </p:nvGrpSpPr>
        <p:grpSpPr>
          <a:xfrm>
            <a:off x="2892699" y="1577856"/>
            <a:ext cx="2126509" cy="2224588"/>
            <a:chOff x="304800" y="1714424"/>
            <a:chExt cx="2940240" cy="3698081"/>
          </a:xfrm>
        </p:grpSpPr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FC3AD926-4278-4B4E-859C-3E8636739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1950" y="3390823"/>
              <a:ext cx="2171700" cy="1724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1ED3E96-1D34-4656-8952-3C6A60829825}"/>
                </a:ext>
              </a:extLst>
            </p:cNvPr>
            <p:cNvCxnSpPr/>
            <p:nvPr/>
          </p:nvCxnSpPr>
          <p:spPr>
            <a:xfrm flipV="1">
              <a:off x="1504950" y="1714424"/>
              <a:ext cx="0" cy="253841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AABB277-D815-4541-A108-2C9E0A47492E}"/>
                </a:ext>
              </a:extLst>
            </p:cNvPr>
            <p:cNvCxnSpPr/>
            <p:nvPr/>
          </p:nvCxnSpPr>
          <p:spPr>
            <a:xfrm flipV="1">
              <a:off x="304800" y="3314623"/>
              <a:ext cx="2940240" cy="1585633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B7443AB-B550-4E76-AE72-8CF935641A8B}"/>
                </a:ext>
              </a:extLst>
            </p:cNvPr>
            <p:cNvCxnSpPr/>
            <p:nvPr/>
          </p:nvCxnSpPr>
          <p:spPr>
            <a:xfrm>
              <a:off x="596900" y="3390823"/>
              <a:ext cx="2127250" cy="202168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5DF12AA-ED1F-4FCD-86FA-7E7A8FA8C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34949" y="2468495"/>
              <a:ext cx="368392" cy="1808477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2A45A36-99DD-4B35-B5E4-FD2B61D9AB5B}"/>
              </a:ext>
            </a:extLst>
          </p:cNvPr>
          <p:cNvCxnSpPr>
            <a:cxnSpLocks/>
          </p:cNvCxnSpPr>
          <p:nvPr/>
        </p:nvCxnSpPr>
        <p:spPr>
          <a:xfrm flipH="1" flipV="1">
            <a:off x="3082835" y="2314186"/>
            <a:ext cx="673992" cy="789143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022773-A914-489C-B5E7-7CC62964C8B4}"/>
              </a:ext>
            </a:extLst>
          </p:cNvPr>
          <p:cNvCxnSpPr>
            <a:cxnSpLocks/>
          </p:cNvCxnSpPr>
          <p:nvPr/>
        </p:nvCxnSpPr>
        <p:spPr>
          <a:xfrm flipH="1">
            <a:off x="3764575" y="2031469"/>
            <a:ext cx="286818" cy="1045164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C5D4E28-0443-4DF9-91A7-FBA77BEA170C}"/>
                  </a:ext>
                </a:extLst>
              </p:cNvPr>
              <p:cNvSpPr/>
              <p:nvPr/>
            </p:nvSpPr>
            <p:spPr>
              <a:xfrm>
                <a:off x="2028160" y="2103751"/>
                <a:ext cx="110858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Illumination</a:t>
                </a:r>
                <a:r>
                  <a:rPr lang="en-US" sz="1200" dirty="0">
                    <a:ea typeface="Cambria Math"/>
                  </a:rPr>
                  <a:t> </a:t>
                </a:r>
                <a:endParaRPr lang="en-US" sz="1200" i="1" dirty="0">
                  <a:latin typeface="Cambria Math"/>
                  <a:ea typeface="Cambria Math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l-GR" sz="1200" i="1" dirty="0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=34⁰</m:t>
                      </m:r>
                      <m:r>
                        <a:rPr lang="el-GR" sz="1200" i="1" dirty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C5D4E28-0443-4DF9-91A7-FBA77BEA17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160" y="2103751"/>
                <a:ext cx="110858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45A9402-BE69-4951-A24F-1801E93A0740}"/>
                  </a:ext>
                </a:extLst>
              </p:cNvPr>
              <p:cNvSpPr/>
              <p:nvPr/>
            </p:nvSpPr>
            <p:spPr>
              <a:xfrm>
                <a:off x="4272915" y="2078426"/>
                <a:ext cx="278069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400" i="1" dirty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45A9402-BE69-4951-A24F-1801E93A0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915" y="2078426"/>
                <a:ext cx="278069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6F1DBF6-EFBF-49F8-A3F9-4FEFDDE29254}"/>
                  </a:ext>
                </a:extLst>
              </p:cNvPr>
              <p:cNvSpPr/>
              <p:nvPr/>
            </p:nvSpPr>
            <p:spPr>
              <a:xfrm>
                <a:off x="2449550" y="1760033"/>
                <a:ext cx="150640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𝑂𝑛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: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𝑇𝑖𝑙𝑡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l-GR" sz="1200" i="1" dirty="0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=17⁰</m:t>
                      </m:r>
                      <m:r>
                        <a:rPr lang="el-GR" sz="1200" i="1" dirty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6F1DBF6-EFBF-49F8-A3F9-4FEFDDE29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550" y="1760033"/>
                <a:ext cx="150640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A47CEFE-38A4-415D-BCA2-6C7AF0D097F6}"/>
                  </a:ext>
                </a:extLst>
              </p:cNvPr>
              <p:cNvSpPr/>
              <p:nvPr/>
            </p:nvSpPr>
            <p:spPr>
              <a:xfrm>
                <a:off x="3870374" y="1999619"/>
                <a:ext cx="16626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𝑂𝑓𝑓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l-GR" sz="1200" i="1" dirty="0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=−</m:t>
                      </m:r>
                      <m:sSup>
                        <m:sSup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17</m:t>
                          </m:r>
                        </m:e>
                        <m:sup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sz="1200" b="0" i="1" dirty="0">
                  <a:latin typeface="Cambria Math" panose="02040503050406030204" pitchFamily="18" charset="0"/>
                  <a:ea typeface="Cambria Math"/>
                </a:endParaRPr>
              </a:p>
              <a:p>
                <a:r>
                  <a:rPr lang="en-US" sz="1200" dirty="0">
                    <a:ea typeface="Cambria Math"/>
                  </a:rPr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 i="1" dirty="0">
                        <a:latin typeface="Cambria Math"/>
                        <a:ea typeface="Cambria Math"/>
                      </a:rPr>
                      <m:t>Φ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/>
                      </a:rPr>
                      <m:t>−90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/>
                      </a:rPr>
                      <m:t>⁰</m:t>
                    </m:r>
                    <m:r>
                      <a:rPr lang="el-GR" sz="1200" i="1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A47CEFE-38A4-415D-BCA2-6C7AF0D097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74" y="1999619"/>
                <a:ext cx="166266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B7DAA48-842C-4FD5-BCEF-F6FC66930048}"/>
                  </a:ext>
                </a:extLst>
              </p:cNvPr>
              <p:cNvSpPr/>
              <p:nvPr/>
            </p:nvSpPr>
            <p:spPr>
              <a:xfrm>
                <a:off x="1925801" y="2994055"/>
                <a:ext cx="119008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Illumination</a:t>
                </a:r>
                <a:r>
                  <a:rPr lang="en-US" sz="1200" dirty="0">
                    <a:ea typeface="Cambria Math"/>
                  </a:rPr>
                  <a:t> </a:t>
                </a:r>
              </a:p>
              <a:p>
                <a:pPr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200" i="1" dirty="0" smtClean="0">
                          <a:latin typeface="Cambria Math"/>
                          <a:ea typeface="Cambria Math"/>
                        </a:rPr>
                        <m:t>Φ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=−90⁰</m:t>
                      </m:r>
                      <m:r>
                        <a:rPr lang="el-GR" sz="1200" i="1" dirty="0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B7DAA48-842C-4FD5-BCEF-F6FC669300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801" y="2994055"/>
                <a:ext cx="1190080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D166E70-C8B2-4C87-8090-997C88246135}"/>
              </a:ext>
            </a:extLst>
          </p:cNvPr>
          <p:cNvCxnSpPr>
            <a:cxnSpLocks/>
          </p:cNvCxnSpPr>
          <p:nvPr/>
        </p:nvCxnSpPr>
        <p:spPr>
          <a:xfrm flipV="1">
            <a:off x="2669801" y="3111176"/>
            <a:ext cx="1078193" cy="51221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055884A-996C-4839-A2CB-D93768FEF3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0254" y="1321298"/>
            <a:ext cx="1941657" cy="171840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685BD5C7-85E3-4FDB-9998-4A6E4581973D}"/>
              </a:ext>
            </a:extLst>
          </p:cNvPr>
          <p:cNvGrpSpPr>
            <a:grpSpLocks noChangeAspect="1"/>
          </p:cNvGrpSpPr>
          <p:nvPr/>
        </p:nvGrpSpPr>
        <p:grpSpPr>
          <a:xfrm>
            <a:off x="131581" y="1401601"/>
            <a:ext cx="2244702" cy="2559135"/>
            <a:chOff x="5301369" y="927832"/>
            <a:chExt cx="3062274" cy="349123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209BCE7-92FB-45F0-9B50-8FACB8341FF7}"/>
                </a:ext>
              </a:extLst>
            </p:cNvPr>
            <p:cNvGrpSpPr/>
            <p:nvPr/>
          </p:nvGrpSpPr>
          <p:grpSpPr>
            <a:xfrm>
              <a:off x="5301369" y="927832"/>
              <a:ext cx="3062274" cy="3491234"/>
              <a:chOff x="6004753" y="1325903"/>
              <a:chExt cx="3062274" cy="3491234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86CC4AA-89EE-4C57-85EC-6C0906602F71}"/>
                  </a:ext>
                </a:extLst>
              </p:cNvPr>
              <p:cNvSpPr/>
              <p:nvPr/>
            </p:nvSpPr>
            <p:spPr bwMode="auto">
              <a:xfrm>
                <a:off x="7260543" y="4147812"/>
                <a:ext cx="648708" cy="66932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cs typeface="+mn-cs"/>
                  </a:rPr>
                  <a:t>OFF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2FD4C6F-E69B-40BC-B937-C90E678BDC2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6963633" y="1792183"/>
                <a:ext cx="660762" cy="872832"/>
              </a:xfrm>
              <a:prstGeom prst="line">
                <a:avLst/>
              </a:prstGeom>
              <a:gradFill rotWithShape="1">
                <a:gsLst>
                  <a:gs pos="0">
                    <a:schemeClr val="tx1"/>
                  </a:gs>
                  <a:gs pos="100000">
                    <a:schemeClr val="tx1">
                      <a:gamma/>
                      <a:shade val="0"/>
                      <a:invGamma/>
                      <a:alpha val="70000"/>
                    </a:schemeClr>
                  </a:gs>
                </a:gsLst>
                <a:lin ang="5400000" scaled="1"/>
              </a:gra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67F9F32-CC50-4195-A974-6DF9410AE0A8}"/>
                  </a:ext>
                </a:extLst>
              </p:cNvPr>
              <p:cNvSpPr/>
              <p:nvPr/>
            </p:nvSpPr>
            <p:spPr bwMode="auto">
              <a:xfrm>
                <a:off x="7132292" y="2057415"/>
                <a:ext cx="914401" cy="91439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700" b="1">
                  <a:solidFill>
                    <a:srgbClr val="FFFFFF"/>
                  </a:solidFill>
                  <a:cs typeface="+mn-cs"/>
                </a:endParaRPr>
              </a:p>
            </p:txBody>
          </p:sp>
          <p:sp>
            <p:nvSpPr>
              <p:cNvPr id="41" name="Right Arrow 51">
                <a:extLst>
                  <a:ext uri="{FF2B5EF4-FFF2-40B4-BE49-F238E27FC236}">
                    <a16:creationId xmlns:a16="http://schemas.microsoft.com/office/drawing/2014/main" id="{EA8BE6F6-4246-46AA-80CF-B34A872C39FA}"/>
                  </a:ext>
                </a:extLst>
              </p:cNvPr>
              <p:cNvSpPr/>
              <p:nvPr/>
            </p:nvSpPr>
            <p:spPr bwMode="auto">
              <a:xfrm>
                <a:off x="6453959" y="2377451"/>
                <a:ext cx="609592" cy="274317"/>
              </a:xfrm>
              <a:prstGeom prst="rightArrow">
                <a:avLst/>
              </a:prstGeom>
              <a:solidFill>
                <a:srgbClr val="FFFF00"/>
              </a:soli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700" b="1">
                  <a:solidFill>
                    <a:srgbClr val="FFFFFF"/>
                  </a:solidFill>
                  <a:cs typeface="+mn-cs"/>
                </a:endParaRPr>
              </a:p>
            </p:txBody>
          </p:sp>
          <p:sp>
            <p:nvSpPr>
              <p:cNvPr id="42" name="Right Arrow 52">
                <a:extLst>
                  <a:ext uri="{FF2B5EF4-FFF2-40B4-BE49-F238E27FC236}">
                    <a16:creationId xmlns:a16="http://schemas.microsoft.com/office/drawing/2014/main" id="{8C5D55DA-1B0C-400C-A1AD-DFE70C1EDE51}"/>
                  </a:ext>
                </a:extLst>
              </p:cNvPr>
              <p:cNvSpPr/>
              <p:nvPr/>
            </p:nvSpPr>
            <p:spPr bwMode="auto">
              <a:xfrm rot="2487967">
                <a:off x="7981462" y="3054102"/>
                <a:ext cx="609592" cy="274317"/>
              </a:xfrm>
              <a:prstGeom prst="rightArrow">
                <a:avLst/>
              </a:prstGeom>
              <a:solidFill>
                <a:srgbClr val="FFFF00"/>
              </a:soli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700" b="1">
                  <a:solidFill>
                    <a:srgbClr val="FFFFFF"/>
                  </a:solidFill>
                  <a:cs typeface="+mn-cs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A111622-7B83-45EE-A09F-1C1EEE1C5EEE}"/>
                  </a:ext>
                </a:extLst>
              </p:cNvPr>
              <p:cNvSpPr txBox="1"/>
              <p:nvPr/>
            </p:nvSpPr>
            <p:spPr>
              <a:xfrm>
                <a:off x="7878321" y="2560765"/>
                <a:ext cx="1188706" cy="519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rgbClr val="000000"/>
                    </a:solidFill>
                    <a:cs typeface="+mn-cs"/>
                  </a:rPr>
                  <a:t>Off-State Light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11BE44-33AB-4856-9B6B-CD0CBEE7E932}"/>
                  </a:ext>
                </a:extLst>
              </p:cNvPr>
              <p:cNvSpPr txBox="1"/>
              <p:nvPr/>
            </p:nvSpPr>
            <p:spPr>
              <a:xfrm>
                <a:off x="6186425" y="2989525"/>
                <a:ext cx="1554414" cy="319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solidFill>
                      <a:srgbClr val="000000"/>
                    </a:solidFill>
                    <a:cs typeface="+mn-cs"/>
                  </a:rPr>
                  <a:t>Incoming Light</a:t>
                </a:r>
              </a:p>
            </p:txBody>
          </p:sp>
          <p:sp>
            <p:nvSpPr>
              <p:cNvPr id="46" name="Curved Right Arrow 61">
                <a:extLst>
                  <a:ext uri="{FF2B5EF4-FFF2-40B4-BE49-F238E27FC236}">
                    <a16:creationId xmlns:a16="http://schemas.microsoft.com/office/drawing/2014/main" id="{C8E0FECC-1B56-44E8-83FD-A7B8223D8BDD}"/>
                  </a:ext>
                </a:extLst>
              </p:cNvPr>
              <p:cNvSpPr/>
              <p:nvPr/>
            </p:nvSpPr>
            <p:spPr bwMode="auto">
              <a:xfrm rot="3162186">
                <a:off x="6710543" y="1570585"/>
                <a:ext cx="314362" cy="320940"/>
              </a:xfrm>
              <a:prstGeom prst="curvedRightArrow">
                <a:avLst/>
              </a:prstGeom>
              <a:gradFill rotWithShape="1">
                <a:gsLst>
                  <a:gs pos="0">
                    <a:schemeClr val="tx1"/>
                  </a:gs>
                  <a:gs pos="100000">
                    <a:schemeClr val="tx1">
                      <a:gamma/>
                      <a:shade val="0"/>
                      <a:invGamma/>
                      <a:alpha val="70000"/>
                    </a:schemeClr>
                  </a:gs>
                </a:gsLst>
                <a:lin ang="5400000" scaled="1"/>
              </a:gra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700" b="1">
                  <a:solidFill>
                    <a:srgbClr val="FFFFFF"/>
                  </a:solidFill>
                  <a:cs typeface="+mn-cs"/>
                </a:endParaRPr>
              </a:p>
            </p:txBody>
          </p:sp>
          <p:sp>
            <p:nvSpPr>
              <p:cNvPr id="47" name="Curved Right Arrow 62">
                <a:extLst>
                  <a:ext uri="{FF2B5EF4-FFF2-40B4-BE49-F238E27FC236}">
                    <a16:creationId xmlns:a16="http://schemas.microsoft.com/office/drawing/2014/main" id="{4B1091F8-5BD1-4FB2-BD84-726D0C1F8682}"/>
                  </a:ext>
                </a:extLst>
              </p:cNvPr>
              <p:cNvSpPr/>
              <p:nvPr/>
            </p:nvSpPr>
            <p:spPr bwMode="auto">
              <a:xfrm rot="8380835">
                <a:off x="6892644" y="1571076"/>
                <a:ext cx="314362" cy="320941"/>
              </a:xfrm>
              <a:prstGeom prst="curvedRightArrow">
                <a:avLst/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700" b="1" dirty="0">
                  <a:solidFill>
                    <a:srgbClr val="FFFFFF"/>
                  </a:solidFill>
                  <a:cs typeface="+mn-cs"/>
                </a:endParaRPr>
              </a:p>
            </p:txBody>
          </p:sp>
          <p:sp>
            <p:nvSpPr>
              <p:cNvPr id="49" name="Rectangular Callout 65">
                <a:extLst>
                  <a:ext uri="{FF2B5EF4-FFF2-40B4-BE49-F238E27FC236}">
                    <a16:creationId xmlns:a16="http://schemas.microsoft.com/office/drawing/2014/main" id="{4140B91E-B155-43D2-93FF-DA54C359CA4D}"/>
                  </a:ext>
                </a:extLst>
              </p:cNvPr>
              <p:cNvSpPr/>
              <p:nvPr/>
            </p:nvSpPr>
            <p:spPr bwMode="auto">
              <a:xfrm>
                <a:off x="7102071" y="1325903"/>
                <a:ext cx="548633" cy="182877"/>
              </a:xfrm>
              <a:prstGeom prst="wedgeRectCallout">
                <a:avLst>
                  <a:gd name="adj1" fmla="val -35713"/>
                  <a:gd name="adj2" fmla="val 140626"/>
                </a:avLst>
              </a:prstGeom>
              <a:noFill/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cs typeface="+mn-cs"/>
                  </a:rPr>
                  <a:t>Tilt</a:t>
                </a:r>
              </a:p>
            </p:txBody>
          </p:sp>
          <p:sp>
            <p:nvSpPr>
              <p:cNvPr id="51" name="Rectangular Callout 66">
                <a:extLst>
                  <a:ext uri="{FF2B5EF4-FFF2-40B4-BE49-F238E27FC236}">
                    <a16:creationId xmlns:a16="http://schemas.microsoft.com/office/drawing/2014/main" id="{11BCF8D2-384D-4C45-8F57-6545AB96CA6F}"/>
                  </a:ext>
                </a:extLst>
              </p:cNvPr>
              <p:cNvSpPr/>
              <p:nvPr/>
            </p:nvSpPr>
            <p:spPr bwMode="auto">
              <a:xfrm>
                <a:off x="6004753" y="1600220"/>
                <a:ext cx="548633" cy="182877"/>
              </a:xfrm>
              <a:prstGeom prst="wedgeRectCallout">
                <a:avLst>
                  <a:gd name="adj1" fmla="val 77136"/>
                  <a:gd name="adj2" fmla="val -1"/>
                </a:avLst>
              </a:prstGeom>
              <a:noFill/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cs typeface="+mn-cs"/>
                  </a:rPr>
                  <a:t>Roll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740BD647-A263-4401-A16A-629F1D8539B0}"/>
                  </a:ext>
                </a:extLst>
              </p:cNvPr>
              <p:cNvSpPr/>
              <p:nvPr/>
            </p:nvSpPr>
            <p:spPr bwMode="auto">
              <a:xfrm>
                <a:off x="6525909" y="3390362"/>
                <a:ext cx="648708" cy="66932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cs typeface="+mn-cs"/>
                  </a:rPr>
                  <a:t>ON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E3085F7-52D0-4732-8C6A-ACAE62DFB1E0}"/>
                  </a:ext>
                </a:extLst>
              </p:cNvPr>
              <p:cNvSpPr/>
              <p:nvPr/>
            </p:nvSpPr>
            <p:spPr bwMode="auto">
              <a:xfrm>
                <a:off x="7258494" y="3404588"/>
                <a:ext cx="648708" cy="66932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28575" cap="flat" cmpd="sng" algn="ctr">
                <a:solidFill>
                  <a:srgbClr val="8C8C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cs typeface="+mn-cs"/>
                  </a:rPr>
                  <a:t>FLAT</a:t>
                </a: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A6301C3-2232-4014-B402-2F8F72DCF5A9}"/>
                </a:ext>
              </a:extLst>
            </p:cNvPr>
            <p:cNvSpPr txBox="1"/>
            <p:nvPr/>
          </p:nvSpPr>
          <p:spPr>
            <a:xfrm>
              <a:off x="5445499" y="3700555"/>
              <a:ext cx="1188706" cy="545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000000"/>
                  </a:solidFill>
                  <a:cs typeface="+mn-cs"/>
                </a:rPr>
                <a:t>Pupil Diagram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BFBB859-012C-4107-B60B-AA0BC9BAF12E}"/>
              </a:ext>
            </a:extLst>
          </p:cNvPr>
          <p:cNvSpPr txBox="1"/>
          <p:nvPr/>
        </p:nvSpPr>
        <p:spPr>
          <a:xfrm>
            <a:off x="5612735" y="3037524"/>
            <a:ext cx="1545769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Mirror On State</a:t>
            </a:r>
          </a:p>
          <a:p>
            <a:r>
              <a:rPr lang="el-GR" sz="1400" dirty="0"/>
              <a:t>θ</a:t>
            </a:r>
            <a:r>
              <a:rPr lang="en-US" sz="1400" dirty="0"/>
              <a:t> = 17⁰, </a:t>
            </a:r>
            <a:r>
              <a:rPr lang="el-GR" sz="1400" dirty="0"/>
              <a:t>Φ</a:t>
            </a:r>
            <a:r>
              <a:rPr lang="en-US" sz="1400" dirty="0"/>
              <a:t> = -90⁰</a:t>
            </a:r>
          </a:p>
          <a:p>
            <a:endParaRPr lang="en-US" sz="500" dirty="0"/>
          </a:p>
          <a:p>
            <a:r>
              <a:rPr lang="en-US" sz="1400" dirty="0"/>
              <a:t>Illumination</a:t>
            </a:r>
          </a:p>
          <a:p>
            <a:r>
              <a:rPr lang="el-GR" sz="1400" dirty="0"/>
              <a:t>θ</a:t>
            </a:r>
            <a:r>
              <a:rPr lang="en-US" sz="1400" dirty="0"/>
              <a:t> = 34⁰, </a:t>
            </a:r>
            <a:r>
              <a:rPr lang="el-GR" sz="1400" dirty="0"/>
              <a:t>Φ</a:t>
            </a:r>
            <a:r>
              <a:rPr lang="en-US" sz="1400" dirty="0"/>
              <a:t> = -90⁰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9DEE7A-52E3-4B4A-87D1-80B7EAB5DB84}"/>
              </a:ext>
            </a:extLst>
          </p:cNvPr>
          <p:cNvSpPr txBox="1"/>
          <p:nvPr/>
        </p:nvSpPr>
        <p:spPr>
          <a:xfrm>
            <a:off x="7554392" y="3017379"/>
            <a:ext cx="1651489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Mirror Off State</a:t>
            </a:r>
          </a:p>
          <a:p>
            <a:r>
              <a:rPr lang="el-GR" sz="1400" dirty="0"/>
              <a:t>θ</a:t>
            </a:r>
            <a:r>
              <a:rPr lang="en-US" sz="1400" dirty="0"/>
              <a:t> = -17⁰, </a:t>
            </a:r>
            <a:r>
              <a:rPr lang="el-GR" sz="1400" dirty="0"/>
              <a:t>Φ</a:t>
            </a:r>
            <a:r>
              <a:rPr lang="en-US" sz="1400" dirty="0"/>
              <a:t> = -90⁰</a:t>
            </a:r>
          </a:p>
          <a:p>
            <a:endParaRPr lang="en-US" sz="500" dirty="0"/>
          </a:p>
          <a:p>
            <a:r>
              <a:rPr lang="en-US" sz="1400" dirty="0"/>
              <a:t>Illumination</a:t>
            </a:r>
          </a:p>
          <a:p>
            <a:r>
              <a:rPr lang="el-GR" sz="1400" dirty="0"/>
              <a:t>θ</a:t>
            </a:r>
            <a:r>
              <a:rPr lang="en-US" sz="1400" dirty="0"/>
              <a:t> = 34⁰, </a:t>
            </a:r>
            <a:r>
              <a:rPr lang="el-GR" sz="1400" dirty="0"/>
              <a:t>Φ</a:t>
            </a:r>
            <a:r>
              <a:rPr lang="en-US" sz="1400" dirty="0"/>
              <a:t> = -90⁰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748F71D-6061-4F96-A7A8-B278B9BF62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251" y="1322037"/>
            <a:ext cx="1776755" cy="171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12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Non-Paraxial Scalar Diffraction Theory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13" y="800935"/>
            <a:ext cx="5496644" cy="3737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882385" y="865494"/>
            <a:ext cx="3041602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Reference: </a:t>
            </a:r>
          </a:p>
          <a:p>
            <a:r>
              <a:rPr lang="en-US" sz="1400" dirty="0"/>
              <a:t>“Linear systems formulation of non-paraxial scalar diffraction theory”</a:t>
            </a:r>
          </a:p>
          <a:p>
            <a:r>
              <a:rPr lang="en-US" sz="1400" dirty="0"/>
              <a:t>James E. Harvey, Proc. of SPIE Vol. 8122</a:t>
            </a:r>
          </a:p>
        </p:txBody>
      </p:sp>
    </p:spTree>
    <p:extLst>
      <p:ext uri="{BB962C8B-B14F-4D97-AF65-F5344CB8AC3E}">
        <p14:creationId xmlns:p14="http://schemas.microsoft.com/office/powerpoint/2010/main" val="1452361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Closed-Form Diffraction Equations (on state)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531" y="914400"/>
            <a:ext cx="71439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each output diffraction order (m, n), an output ray (plane wave) </a:t>
            </a:r>
          </a:p>
          <a:p>
            <a:r>
              <a:rPr lang="en-US" dirty="0"/>
              <a:t>appears at these direction cosine directions: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9120" y="1714290"/>
                <a:ext cx="21208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/>
                        <m:t>α</m:t>
                      </m:r>
                      <m:r>
                        <m:rPr>
                          <m:nor/>
                        </m:rPr>
                        <a:rPr lang="en-US" b="0" i="0" baseline="-25000" dirty="0" smtClean="0"/>
                        <m:t>m</m:t>
                      </m:r>
                      <m:r>
                        <a:rPr lang="en-US" b="0" i="1" dirty="0" smtClean="0"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l-GR" dirty="0"/>
                        <m:t>α</m:t>
                      </m:r>
                      <m:r>
                        <m:rPr>
                          <m:nor/>
                        </m:rPr>
                        <a:rPr lang="en-US" baseline="-25000" dirty="0"/>
                        <m:t>i</m:t>
                      </m:r>
                      <m:r>
                        <m:rPr>
                          <m:nor/>
                        </m:rPr>
                        <a:rPr lang="en-US" b="0" i="0" baseline="-25000" dirty="0" smtClean="0"/>
                        <m:t> </m:t>
                      </m:r>
                      <m:r>
                        <m:rPr>
                          <m:nor/>
                        </m:rPr>
                        <a:rPr lang="en-US" b="0" i="0" dirty="0" smtClean="0"/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𝑚</m:t>
                      </m:r>
                      <m:r>
                        <m:rPr>
                          <m:nor/>
                        </m:rPr>
                        <a:rPr lang="el-GR" dirty="0"/>
                        <m:t>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/>
                        </a:rPr>
                        <m:t>λ</m:t>
                      </m:r>
                      <m:r>
                        <m:rPr>
                          <m:nor/>
                        </m:rPr>
                        <a:rPr lang="en-US" dirty="0"/>
                        <m:t>/</m:t>
                      </m:r>
                      <m:r>
                        <m:rPr>
                          <m:nor/>
                        </m:rPr>
                        <a:rPr lang="en-US" b="0" i="0" dirty="0" smtClean="0"/>
                        <m:t>x</m:t>
                      </m:r>
                      <m:r>
                        <m:rPr>
                          <m:nor/>
                        </m:rPr>
                        <a:rPr lang="en-US" baseline="-25000" dirty="0"/>
                        <m:t>pitch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20" y="1714290"/>
                <a:ext cx="2120861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78445" y="1651469"/>
                <a:ext cx="21858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/>
                        <m:t>β</m:t>
                      </m:r>
                      <m:r>
                        <a:rPr lang="en-US" b="0" i="1" dirty="0" smtClean="0">
                          <a:latin typeface="Cambria Math"/>
                        </a:rPr>
                        <m:t>𝑛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/>
                        <m:t>= </m:t>
                      </m:r>
                      <m:r>
                        <m:rPr>
                          <m:nor/>
                        </m:rPr>
                        <a:rPr lang="el-GR" dirty="0"/>
                        <m:t>β</m:t>
                      </m:r>
                      <m:r>
                        <m:rPr>
                          <m:nor/>
                        </m:rPr>
                        <a:rPr lang="en-US" baseline="-25000" dirty="0"/>
                        <m:t>i</m:t>
                      </m:r>
                      <m:r>
                        <a:rPr lang="en-US" b="0" i="1" dirty="0" smtClean="0">
                          <a:latin typeface="Cambria Math"/>
                        </a:rPr>
                        <m:t>+</m:t>
                      </m:r>
                      <m:r>
                        <a:rPr lang="en-US" b="0" i="1" dirty="0" smtClean="0">
                          <a:latin typeface="Cambria Math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/>
                        </a:rPr>
                        <m:t>λ</m:t>
                      </m:r>
                      <m:r>
                        <m:rPr>
                          <m:nor/>
                        </m:rPr>
                        <a:rPr lang="en-US" dirty="0"/>
                        <m:t>/</m:t>
                      </m:r>
                      <m:r>
                        <m:rPr>
                          <m:nor/>
                        </m:rPr>
                        <a:rPr lang="en-US" b="0" i="0" dirty="0" smtClean="0"/>
                        <m:t>y</m:t>
                      </m:r>
                      <m:r>
                        <m:rPr>
                          <m:nor/>
                        </m:rPr>
                        <a:rPr lang="en-US" baseline="-25000" dirty="0"/>
                        <m:t>pitch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445" y="1651469"/>
                <a:ext cx="2185894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180352" y="2218321"/>
                <a:ext cx="1231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α</m:t>
                    </m:r>
                    <m:r>
                      <m:rPr>
                        <m:nor/>
                      </m:rPr>
                      <a:rPr lang="en-US" b="0" i="0" baseline="-25000" dirty="0" smtClean="0"/>
                      <m:t>m</m:t>
                    </m:r>
                    <m:r>
                      <m:rPr>
                        <m:nor/>
                      </m:rPr>
                      <a:rPr lang="en-US" b="0" i="0" baseline="30000" dirty="0" smtClean="0"/>
                      <m:t>2</m:t>
                    </m:r>
                    <m:r>
                      <m:rPr>
                        <m:nor/>
                      </m:rPr>
                      <a:rPr lang="en-US" b="0" i="0" dirty="0" smtClean="0"/>
                      <m:t>+</m:t>
                    </m:r>
                    <m:r>
                      <m:rPr>
                        <m:nor/>
                      </m:rPr>
                      <a:rPr lang="el-GR" dirty="0" smtClean="0"/>
                      <m:t>β</m:t>
                    </m:r>
                    <m:r>
                      <m:rPr>
                        <m:nor/>
                      </m:rPr>
                      <a:rPr lang="en-US" b="0" i="0" baseline="-25000" dirty="0" smtClean="0"/>
                      <m:t>n</m:t>
                    </m:r>
                  </m:oMath>
                </a14:m>
                <a:r>
                  <a:rPr lang="en-US" baseline="30000" dirty="0"/>
                  <a:t>2</a:t>
                </a:r>
                <a:r>
                  <a:rPr lang="en-US" dirty="0"/>
                  <a:t>&lt;1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352" y="2218321"/>
                <a:ext cx="1231427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346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79493" y="2746323"/>
                <a:ext cx="18153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 smtClean="0"/>
                      <m:t>α</m:t>
                    </m:r>
                    <m:r>
                      <m:rPr>
                        <m:nor/>
                      </m:rPr>
                      <a:rPr lang="en-US" b="0" i="0" baseline="-25000" dirty="0" smtClean="0"/>
                      <m:t>m</m:t>
                    </m:r>
                    <m:r>
                      <a:rPr lang="en-US" b="0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l-GR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="0" i="0" baseline="-25000" dirty="0" smtClean="0"/>
                      <m:t>m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</m:oMath>
                </a14:m>
                <a:r>
                  <a:rPr lang="en-US" dirty="0"/>
                  <a:t>are output ray dir. cosines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493" y="2746323"/>
                <a:ext cx="1815354" cy="923330"/>
              </a:xfrm>
              <a:prstGeom prst="rect">
                <a:avLst/>
              </a:prstGeom>
              <a:blipFill>
                <a:blip r:embed="rId5"/>
                <a:stretch>
                  <a:fillRect l="-2685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318930" y="2772906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154817" y="3710235"/>
                <a:ext cx="18153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α</m:t>
                    </m:r>
                    <m:r>
                      <m:rPr>
                        <m:nor/>
                      </m:rPr>
                      <a:rPr lang="en-US" baseline="-25000" dirty="0"/>
                      <m:t>i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aseline="-25000" dirty="0"/>
                      <m:t>i</m:t>
                    </m:r>
                  </m:oMath>
                </a14:m>
                <a:r>
                  <a:rPr lang="en-US" dirty="0"/>
                  <a:t> are input ray dir. cosines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817" y="3710235"/>
                <a:ext cx="1815354" cy="646331"/>
              </a:xfrm>
              <a:prstGeom prst="rect">
                <a:avLst/>
              </a:prstGeom>
              <a:blipFill>
                <a:blip r:embed="rId6"/>
                <a:stretch>
                  <a:fillRect l="-2685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072911" y="2680573"/>
                <a:ext cx="18153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 smtClean="0"/>
                      <m:t>α</m:t>
                    </m:r>
                    <m:r>
                      <m:rPr>
                        <m:nor/>
                      </m:rPr>
                      <a:rPr lang="en-US" b="0" i="0" baseline="-25000" dirty="0" smtClean="0"/>
                      <m:t>tilt</m:t>
                    </m:r>
                    <m:r>
                      <a:rPr lang="en-US" b="0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l-GR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="0" i="0" baseline="-25000" dirty="0" smtClean="0"/>
                      <m:t>tilt</m:t>
                    </m:r>
                  </m:oMath>
                </a14:m>
                <a:r>
                  <a:rPr lang="en-US" dirty="0"/>
                  <a:t> are mirror normal dir. cosines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911" y="2680573"/>
                <a:ext cx="1815354" cy="923330"/>
              </a:xfrm>
              <a:prstGeom prst="rect">
                <a:avLst/>
              </a:prstGeom>
              <a:blipFill>
                <a:blip r:embed="rId7"/>
                <a:stretch>
                  <a:fillRect l="-2685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037487" y="3669653"/>
                <a:ext cx="1723549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baseline="-25000" dirty="0"/>
                      <m:t>pitch</m:t>
                    </m:r>
                    <m:r>
                      <m:rPr>
                        <m:nor/>
                      </m:rPr>
                      <a:rPr lang="en-US" b="0" i="0" dirty="0" smtClean="0"/>
                      <m:t>,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baseline="-25000" dirty="0"/>
                      <m:t>pitch</m:t>
                    </m:r>
                  </m:oMath>
                </a14:m>
                <a:r>
                  <a:rPr lang="en-US" dirty="0"/>
                  <a:t> are</a:t>
                </a:r>
              </a:p>
              <a:p>
                <a:r>
                  <a:rPr lang="en-US" dirty="0"/>
                  <a:t>the mirror pitch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487" y="3669653"/>
                <a:ext cx="1723549" cy="923330"/>
              </a:xfrm>
              <a:prstGeom prst="rect">
                <a:avLst/>
              </a:prstGeom>
              <a:blipFill>
                <a:blip r:embed="rId8"/>
                <a:stretch>
                  <a:fillRect l="-2827" t="-3974" r="-2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4965637" y="2721460"/>
                <a:ext cx="210506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b="0" i="0" baseline="-25000" dirty="0" smtClean="0"/>
                      <m:t>width</m:t>
                    </m:r>
                    <m:r>
                      <m:rPr>
                        <m:nor/>
                      </m:rPr>
                      <a:rPr lang="en-US" b="0" i="0" dirty="0" smtClean="0"/>
                      <m:t>, 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b="0" i="0" baseline="-25000" dirty="0" smtClean="0"/>
                      <m:t>width</m:t>
                    </m:r>
                  </m:oMath>
                </a14:m>
                <a:r>
                  <a:rPr lang="en-US" dirty="0"/>
                  <a:t> are the </a:t>
                </a:r>
              </a:p>
              <a:p>
                <a:r>
                  <a:rPr lang="en-US" dirty="0"/>
                  <a:t>mirror widths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637" y="2721460"/>
                <a:ext cx="2105063" cy="923330"/>
              </a:xfrm>
              <a:prstGeom prst="rect">
                <a:avLst/>
              </a:prstGeom>
              <a:blipFill>
                <a:blip r:embed="rId9"/>
                <a:stretch>
                  <a:fillRect l="-2609" t="-3289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587486" y="3778597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486" y="5038129"/>
                <a:ext cx="300082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888265" y="3615890"/>
                <a:ext cx="214507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𝑚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are the integer</a:t>
                </a:r>
              </a:p>
              <a:p>
                <a:r>
                  <a:rPr lang="en-US" dirty="0"/>
                  <a:t>diffraction orders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265" y="3615890"/>
                <a:ext cx="2145074" cy="923330"/>
              </a:xfrm>
              <a:prstGeom prst="rect">
                <a:avLst/>
              </a:prstGeom>
              <a:blipFill>
                <a:blip r:embed="rId13"/>
                <a:stretch>
                  <a:fillRect l="-2557" t="-3289" r="-1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18930" y="2218321"/>
            <a:ext cx="5771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diffraction orders only exist within the unit circle: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972918" y="2983990"/>
                <a:ext cx="2050241" cy="6199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𝑠𝑖𝑛</m:t>
                      </m:r>
                      <m:r>
                        <a:rPr lang="en-US" b="0" i="1" smtClean="0">
                          <a:latin typeface="Cambria Math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sin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918" y="2983990"/>
                <a:ext cx="2050241" cy="61991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8441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Closed-Form Diffraction Equations (on state): Reflected ray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2502" y="9144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9271" y="939201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94096" y="974183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395" y="1428750"/>
            <a:ext cx="235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05443" y="30861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043214" y="2993767"/>
                <a:ext cx="18153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acc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/>
                            </a:rPr>
                            <m:t>a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/>
                            </a:rPr>
                            <m:t>b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is</m:t>
                      </m:r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the</m:t>
                      </m:r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mirror</m:t>
                      </m:r>
                    </m:oMath>
                  </m:oMathPara>
                </a14:m>
                <a:endParaRPr lang="en-US" b="0" i="0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normal</m:t>
                      </m:r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vector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214" y="2993767"/>
                <a:ext cx="1815354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587486" y="3778597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486" y="5038129"/>
                <a:ext cx="300082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810001" y="2982225"/>
                <a:ext cx="2000849" cy="956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e>
                      </m:acc>
                      <m:r>
                        <a:rPr lang="en-US" b="0" i="0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/>
                            </a:rPr>
                            <m:t>0,0,−1</m:t>
                          </m:r>
                        </m:e>
                      </m:d>
                    </m:oMath>
                  </m:oMathPara>
                </a14:m>
                <a:endParaRPr lang="en-US" b="0" i="0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is</m:t>
                      </m:r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the</m:t>
                      </m:r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incident</m:t>
                      </m:r>
                    </m:oMath>
                  </m:oMathPara>
                </a14:m>
                <a:endParaRPr lang="en-US" b="0" i="0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light</m:t>
                      </m:r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direction</m:t>
                      </m:r>
                    </m:oMath>
                  </m:oMathPara>
                </a14:m>
                <a:endParaRPr lang="en-US" b="0" i="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976300"/>
                <a:ext cx="2000849" cy="956929"/>
              </a:xfrm>
              <a:prstGeom prst="rect">
                <a:avLst/>
              </a:prstGeom>
              <a:blipFill rotWithShape="1">
                <a:blip r:embed="rId13"/>
                <a:stretch>
                  <a:fillRect b="-5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780701" y="3015499"/>
                <a:ext cx="1595325" cy="679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e>
                      </m:acc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is</m:t>
                      </m:r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the</m:t>
                      </m:r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reflected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light</m:t>
                      </m:r>
                      <m:r>
                        <a:rPr lang="en-US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/>
                        </a:rPr>
                        <m:t>direction</m:t>
                      </m:r>
                    </m:oMath>
                  </m:oMathPara>
                </a14:m>
                <a:endParaRPr lang="en-US" b="0" i="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701" y="3015499"/>
                <a:ext cx="1595325" cy="679930"/>
              </a:xfrm>
              <a:prstGeom prst="rect">
                <a:avLst/>
              </a:prstGeom>
              <a:blipFill>
                <a:blip r:embed="rId14"/>
                <a:stretch>
                  <a:fillRect r="-14504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41288" y="1302634"/>
                <a:ext cx="7893112" cy="40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b="0" i="0" dirty="0">
                    <a:latin typeface="Cambria Math"/>
                  </a:rPr>
                  <a:t>-2(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𝐸</m:t>
                        </m:r>
                      </m:e>
                    </m:acc>
                    <m:r>
                      <a:rPr lang="en-US" b="0" i="0" smtClean="0">
                        <a:latin typeface="Cambria Math"/>
                      </a:rPr>
                      <m:t>∗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b="0" i="0" dirty="0">
                    <a:latin typeface="Cambria Math"/>
                  </a:rPr>
                  <a:t>)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US" b="0" i="0" dirty="0">
                    <a:latin typeface="Cambria Math"/>
                  </a:rPr>
                  <a:t>=</a:t>
                </a:r>
                <a:r>
                  <a:rPr lang="en-US" dirty="0">
                    <a:latin typeface="Cambria Math"/>
                  </a:rPr>
                  <a:t>(-2ac, -2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/>
                        <a:ea typeface="Cambria Math"/>
                      </a:rPr>
                      <m:t>b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c</m:t>
                    </m:r>
                    <m:r>
                      <a:rPr lang="en-US" dirty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b="0" i="0" dirty="0" smtClean="0">
                        <a:latin typeface="Cambria Math"/>
                        <a:ea typeface="Cambria Math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  <a:ea typeface="Cambria Math"/>
                      </a:rPr>
                      <m:t>c</m:t>
                    </m:r>
                    <m:r>
                      <a:rPr lang="en-US" b="0" i="0" baseline="30000" dirty="0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US" b="0" i="0" dirty="0" smtClean="0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r>
                  <a:rPr lang="en-US" dirty="0">
                    <a:latin typeface="Cambria Math"/>
                  </a:rPr>
                  <a:t>)</a:t>
                </a:r>
                <a:endParaRPr lang="en-US" b="0" i="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88" y="1302634"/>
                <a:ext cx="7893112" cy="402931"/>
              </a:xfrm>
              <a:prstGeom prst="rect">
                <a:avLst/>
              </a:prstGeom>
              <a:blipFill rotWithShape="1">
                <a:blip r:embed="rId15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43050" y="1828800"/>
                <a:ext cx="4044795" cy="407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 smtClean="0">
                          <a:latin typeface="Cambria Math"/>
                        </a:rPr>
                        <m:t>c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/>
                              <a:ea typeface="Cambria Math"/>
                            </a:rPr>
                            <m:t>1−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Cambria Math"/>
                            </a:rPr>
                            <m:t>a</m:t>
                          </m:r>
                          <m:r>
                            <a:rPr lang="en-US" b="0" i="1" baseline="30000" dirty="0" smtClean="0">
                              <a:latin typeface="Cambria Math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𝑏</m:t>
                          </m:r>
                          <m:r>
                            <a:rPr lang="en-US" b="0" i="1" baseline="30000" dirty="0" smtClean="0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b="0" i="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50" y="1828800"/>
                <a:ext cx="4044795" cy="407484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41288" y="2286001"/>
            <a:ext cx="767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a mirror with normal (-z) illumination and normal </a:t>
            </a:r>
          </a:p>
          <a:p>
            <a:r>
              <a:rPr lang="en-US" dirty="0"/>
              <a:t>direction cosines a, b will have reflected direction cosines of 2ca and 2cb!</a:t>
            </a:r>
          </a:p>
        </p:txBody>
      </p:sp>
    </p:spTree>
    <p:extLst>
      <p:ext uri="{BB962C8B-B14F-4D97-AF65-F5344CB8AC3E}">
        <p14:creationId xmlns:p14="http://schemas.microsoft.com/office/powerpoint/2010/main" val="2153035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Closed-Form Diffraction Equations (on state): Large Tilt Angle Correction Term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2502" y="1053501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8604" y="108153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752" y="3409265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999344" y="4075552"/>
                <a:ext cx="18153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α</m:t>
                    </m:r>
                    <m:r>
                      <m:rPr>
                        <m:nor/>
                      </m:rPr>
                      <a:rPr lang="en-US" baseline="-25000" dirty="0"/>
                      <m:t>i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aseline="-25000" dirty="0"/>
                      <m:t>i</m:t>
                    </m:r>
                  </m:oMath>
                </a14:m>
                <a:r>
                  <a:rPr lang="en-US" dirty="0"/>
                  <a:t> are input ray dir. cosines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344" y="4075552"/>
                <a:ext cx="1815354" cy="646331"/>
              </a:xfrm>
              <a:prstGeom prst="rect">
                <a:avLst/>
              </a:prstGeom>
              <a:blipFill>
                <a:blip r:embed="rId2"/>
                <a:stretch>
                  <a:fillRect l="-3020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160824" y="3354169"/>
                <a:ext cx="24820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 smtClean="0"/>
                      <m:t>α</m:t>
                    </m:r>
                    <m:r>
                      <m:rPr>
                        <m:nor/>
                      </m:rPr>
                      <a:rPr lang="en-US" b="0" i="0" baseline="-25000" dirty="0" smtClean="0"/>
                      <m:t>tilt</m:t>
                    </m:r>
                    <m:r>
                      <a:rPr lang="en-US" b="0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l-GR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="0" i="0" baseline="-25000" dirty="0" smtClean="0"/>
                      <m:t>tilt</m:t>
                    </m:r>
                  </m:oMath>
                </a14:m>
                <a:r>
                  <a:rPr lang="en-US" dirty="0"/>
                  <a:t> are mirror normal dir. cosines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824" y="3354169"/>
                <a:ext cx="2482097" cy="646331"/>
              </a:xfrm>
              <a:prstGeom prst="rect">
                <a:avLst/>
              </a:prstGeom>
              <a:blipFill>
                <a:blip r:embed="rId3"/>
                <a:stretch>
                  <a:fillRect l="-2211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174178" y="4058641"/>
                <a:ext cx="2037737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baseline="-25000" dirty="0"/>
                      <m:t>pitch</m:t>
                    </m:r>
                    <m:r>
                      <m:rPr>
                        <m:nor/>
                      </m:rPr>
                      <a:rPr lang="en-US" b="0" i="0" dirty="0" smtClean="0"/>
                      <m:t>, 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baseline="-25000" dirty="0"/>
                      <m:t>pitch</m:t>
                    </m:r>
                  </m:oMath>
                </a14:m>
                <a:r>
                  <a:rPr lang="en-US" dirty="0"/>
                  <a:t> are the </a:t>
                </a:r>
              </a:p>
              <a:p>
                <a:r>
                  <a:rPr lang="en-US" dirty="0"/>
                  <a:t>mirror pitch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178" y="4058641"/>
                <a:ext cx="2037737" cy="923330"/>
              </a:xfrm>
              <a:prstGeom prst="rect">
                <a:avLst/>
              </a:prstGeom>
              <a:blipFill>
                <a:blip r:embed="rId4"/>
                <a:stretch>
                  <a:fillRect l="-2695" t="-3974" r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6669641" y="3322481"/>
                <a:ext cx="210506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x</m:t>
                    </m:r>
                    <m:r>
                      <m:rPr>
                        <m:nor/>
                      </m:rPr>
                      <a:rPr lang="en-US" b="0" i="0" baseline="-25000" dirty="0" smtClean="0"/>
                      <m:t>width</m:t>
                    </m:r>
                    <m:r>
                      <m:rPr>
                        <m:nor/>
                      </m:rPr>
                      <a:rPr lang="en-US" b="0" i="0" dirty="0" smtClean="0"/>
                      <m:t>, </m:t>
                    </m:r>
                    <m:r>
                      <m:rPr>
                        <m:nor/>
                      </m:rPr>
                      <a:rPr lang="en-US" dirty="0"/>
                      <m:t>y</m:t>
                    </m:r>
                    <m:r>
                      <m:rPr>
                        <m:nor/>
                      </m:rPr>
                      <a:rPr lang="en-US" b="0" i="0" baseline="-25000" dirty="0" smtClean="0"/>
                      <m:t>width</m:t>
                    </m:r>
                  </m:oMath>
                </a14:m>
                <a:r>
                  <a:rPr lang="en-US" dirty="0"/>
                  <a:t> are the </a:t>
                </a:r>
              </a:p>
              <a:p>
                <a:r>
                  <a:rPr lang="en-US" dirty="0"/>
                  <a:t>mirror width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641" y="3322481"/>
                <a:ext cx="2105063" cy="923330"/>
              </a:xfrm>
              <a:prstGeom prst="rect">
                <a:avLst/>
              </a:prstGeom>
              <a:blipFill>
                <a:blip r:embed="rId5"/>
                <a:stretch>
                  <a:fillRect l="-2319" t="-331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587486" y="3778597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486" y="5038129"/>
                <a:ext cx="300082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669641" y="3963263"/>
                <a:ext cx="214507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𝑚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are the integer</a:t>
                </a:r>
              </a:p>
              <a:p>
                <a:r>
                  <a:rPr lang="en-US" dirty="0"/>
                  <a:t>diffraction orders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641" y="3963263"/>
                <a:ext cx="2145074" cy="923330"/>
              </a:xfrm>
              <a:prstGeom prst="rect">
                <a:avLst/>
              </a:prstGeom>
              <a:blipFill>
                <a:blip r:embed="rId13"/>
                <a:stretch>
                  <a:fillRect l="-2273" t="-3289" r="-1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056116" y="2693698"/>
                <a:ext cx="4044795" cy="427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 smtClean="0">
                          <a:latin typeface="Cambria Math"/>
                        </a:rPr>
                        <m:t>c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/>
                              <a:ea typeface="Cambria Math"/>
                            </a:rPr>
                            <m:t>1−</m:t>
                          </m:r>
                          <m:r>
                            <m:rPr>
                              <m:nor/>
                            </m:rPr>
                            <a:rPr lang="el-GR" dirty="0"/>
                            <m:t>α</m:t>
                          </m:r>
                          <m:r>
                            <m:rPr>
                              <m:nor/>
                            </m:rPr>
                            <a:rPr lang="en-US" baseline="-25000" dirty="0"/>
                            <m:t>tilt</m:t>
                          </m:r>
                          <m:r>
                            <a:rPr lang="en-US" b="0" i="1" baseline="30000" dirty="0" smtClean="0">
                              <a:latin typeface="Cambria Math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l-GR" dirty="0"/>
                            <m:t>β</m:t>
                          </m:r>
                          <m:r>
                            <m:rPr>
                              <m:nor/>
                            </m:rPr>
                            <a:rPr lang="en-US" baseline="-25000" dirty="0"/>
                            <m:t>tilt</m:t>
                          </m:r>
                          <m:r>
                            <a:rPr lang="en-US" b="0" i="1" baseline="30000" dirty="0" smtClean="0">
                              <a:latin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b="0" i="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116" y="2693698"/>
                <a:ext cx="4044795" cy="427746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92502" y="1580792"/>
                <a:ext cx="7485120" cy="941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1600" dirty="0">
                          <a:latin typeface="Cambria Math"/>
                        </a:rPr>
                        <m:t>P</m:t>
                      </m:r>
                      <m:r>
                        <m:rPr>
                          <m:nor/>
                        </m:rPr>
                        <a:rPr lang="pt-BR" sz="1600" dirty="0" smtClean="0"/>
                        <m:t>(</m:t>
                      </m:r>
                      <m:r>
                        <m:rPr>
                          <m:nor/>
                        </m:rPr>
                        <a:rPr lang="el-GR" sz="1600" dirty="0" smtClean="0"/>
                        <m:t>α</m:t>
                      </m:r>
                      <m:r>
                        <m:rPr>
                          <m:nor/>
                        </m:rPr>
                        <a:rPr lang="en-US" sz="1600" b="0" i="0" baseline="-25000" dirty="0" smtClean="0"/>
                        <m:t>m</m:t>
                      </m:r>
                      <m:r>
                        <m:rPr>
                          <m:nor/>
                        </m:rPr>
                        <a:rPr lang="en-US" sz="1600" b="0" i="0" baseline="-25000" dirty="0" smtClean="0"/>
                        <m:t>,</m:t>
                      </m:r>
                      <m:r>
                        <m:rPr>
                          <m:nor/>
                        </m:rPr>
                        <a:rPr lang="el-GR" sz="1600" dirty="0" smtClean="0"/>
                        <m:t>β</m:t>
                      </m:r>
                      <m:r>
                        <m:rPr>
                          <m:nor/>
                        </m:rPr>
                        <a:rPr lang="en-US" sz="1600" b="0" i="0" baseline="-25000" dirty="0" smtClean="0"/>
                        <m:t>n</m:t>
                      </m:r>
                      <m:r>
                        <m:rPr>
                          <m:nor/>
                        </m:rPr>
                        <a:rPr lang="en-US" sz="1600" b="0" i="0" baseline="-25000" dirty="0" smtClean="0"/>
                        <m:t>,</m:t>
                      </m:r>
                      <m:r>
                        <a:rPr lang="en-US" sz="1600" i="1">
                          <a:latin typeface="Cambria Math"/>
                          <a:ea typeface="Cambria Math"/>
                        </a:rPr>
                        <m:t>𝜆</m:t>
                      </m:r>
                      <m:r>
                        <m:rPr>
                          <m:nor/>
                        </m:rPr>
                        <a:rPr lang="pt-BR" sz="1600" dirty="0" smtClean="0"/>
                        <m:t>)</m:t>
                      </m:r>
                      <m:r>
                        <a:rPr lang="en-US" sz="16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/>
                            </a:rPr>
                            <m:t>{</m:t>
                          </m:r>
                          <m:r>
                            <a:rPr lang="en-US" sz="1600" i="1">
                              <a:latin typeface="Cambria Math"/>
                            </a:rPr>
                            <m:t>𝑠𝑖𝑛𝑐</m:t>
                          </m:r>
                          <m:r>
                            <a:rPr lang="en-US" sz="1600" i="1">
                              <a:latin typeface="Cambria Math"/>
                            </a:rPr>
                            <m:t>[(</m:t>
                          </m:r>
                          <m:r>
                            <a:rPr lang="en-US" sz="1600" i="1">
                              <a:latin typeface="Cambria Math"/>
                            </a:rPr>
                            <m:t>𝑚</m:t>
                          </m:r>
                          <m:r>
                            <m:rPr>
                              <m:nor/>
                            </m:rPr>
                            <a:rPr lang="el-GR" sz="1600" dirty="0"/>
                            <m:t> </m:t>
                          </m:r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/>
                            </a:rPr>
                            <m:t>λ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/</m:t>
                          </m:r>
                          <m:r>
                            <a:rPr lang="en-US" sz="1600" i="1">
                              <a:latin typeface="Cambria Math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sz="1600" baseline="-25000">
                              <a:latin typeface="Cambria Math"/>
                            </a:rPr>
                            <m:t>pitch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−2</m:t>
                          </m:r>
                          <m:r>
                            <m:rPr>
                              <m:nor/>
                            </m:rPr>
                            <a:rPr lang="en-US" sz="1600" b="0" i="0" dirty="0" smtClean="0"/>
                            <m:t>c</m:t>
                          </m:r>
                          <m:r>
                            <m:rPr>
                              <m:nor/>
                            </m:rPr>
                            <a:rPr lang="el-GR" sz="1600" dirty="0"/>
                            <m:t> </m:t>
                          </m:r>
                          <m:r>
                            <m:rPr>
                              <m:nor/>
                            </m:rPr>
                            <a:rPr lang="el-GR" sz="1600" dirty="0"/>
                            <m:t>α</m:t>
                          </m:r>
                          <m:r>
                            <m:rPr>
                              <m:nor/>
                            </m:rPr>
                            <a:rPr lang="en-US" sz="1600" baseline="-25000" dirty="0"/>
                            <m:t>tilt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) </m:t>
                          </m:r>
                          <m:r>
                            <a:rPr lang="en-US" sz="1600" i="1">
                              <a:latin typeface="Cambria Math"/>
                            </a:rPr>
                            <m:t>𝑥</m:t>
                          </m:r>
                          <m:r>
                            <a:rPr lang="en-US" sz="1600" i="1" baseline="-25000">
                              <a:latin typeface="Cambria Math"/>
                            </a:rPr>
                            <m:t>𝑤𝑖𝑑𝑡h</m:t>
                          </m:r>
                          <m:r>
                            <m:rPr>
                              <m:nor/>
                            </m:rPr>
                            <a:rPr lang="el-GR" sz="1600" baseline="-25000" dirty="0"/>
                            <m:t> </m:t>
                          </m:r>
                          <m:r>
                            <a:rPr lang="en-US" sz="160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/>
                            </a:rPr>
                            <m:t>λ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] </m:t>
                          </m:r>
                          <m:r>
                            <a:rPr lang="en-US" sz="1600" i="1">
                              <a:latin typeface="Cambria Math"/>
                            </a:rPr>
                            <m:t>𝑠𝑖𝑛𝑐</m:t>
                          </m:r>
                          <m:r>
                            <a:rPr lang="en-US" sz="1600" i="1">
                              <a:latin typeface="Cambria Math"/>
                            </a:rPr>
                            <m:t>[(</m:t>
                          </m:r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l-GR" sz="1600" dirty="0"/>
                            <m:t> </m:t>
                          </m:r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/>
                            </a:rPr>
                            <m:t>λ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/</m:t>
                          </m:r>
                          <m:r>
                            <m:rPr>
                              <m:nor/>
                            </m:rPr>
                            <a:rPr lang="en-US" sz="1600" b="0" i="0" dirty="0" smtClean="0"/>
                            <m:t>y</m:t>
                          </m:r>
                          <m:r>
                            <m:rPr>
                              <m:nor/>
                            </m:rPr>
                            <a:rPr lang="en-US" sz="1600" baseline="-25000">
                              <a:latin typeface="Cambria Math"/>
                            </a:rPr>
                            <m:t>pitch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−2</m:t>
                          </m:r>
                          <m:r>
                            <m:rPr>
                              <m:nor/>
                            </m:rPr>
                            <a:rPr lang="el-GR" sz="16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sz="1600" b="0" i="0" dirty="0" smtClean="0"/>
                            <m:t>c</m:t>
                          </m:r>
                          <m:r>
                            <m:rPr>
                              <m:nor/>
                            </m:rPr>
                            <a:rPr lang="el-GR" sz="1600" dirty="0"/>
                            <m:t>β</m:t>
                          </m:r>
                          <m:r>
                            <m:rPr>
                              <m:nor/>
                            </m:rPr>
                            <a:rPr lang="en-US" sz="1600" baseline="-25000" dirty="0"/>
                            <m:t>tilt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) 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y</m:t>
                          </m:r>
                          <m:r>
                            <a:rPr lang="en-US" sz="1600" i="1" baseline="-25000">
                              <a:latin typeface="Cambria Math"/>
                            </a:rPr>
                            <m:t>𝑤𝑖𝑑𝑡h</m:t>
                          </m:r>
                          <m:r>
                            <m:rPr>
                              <m:nor/>
                            </m:rPr>
                            <a:rPr lang="el-GR" sz="1600" baseline="-25000" dirty="0"/>
                            <m:t> </m:t>
                          </m:r>
                          <m:r>
                            <a:rPr lang="en-US" sz="1600">
                              <a:latin typeface="Cambria Math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/>
                            </a:rPr>
                            <m:t>λ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]}</m:t>
                          </m:r>
                          <m:r>
                            <m:rPr>
                              <m:nor/>
                            </m:rPr>
                            <a:rPr lang="en-US" sz="1600" baseline="30000" dirty="0"/>
                            <m:t>2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:(</m:t>
                              </m:r>
                              <m:r>
                                <m:rPr>
                                  <m:nor/>
                                </m:rPr>
                                <a:rPr lang="el-GR" sz="1600" dirty="0"/>
                                <m:t>α</m:t>
                              </m:r>
                              <m:r>
                                <m:rPr>
                                  <m:nor/>
                                </m:rPr>
                                <a:rPr lang="en-US" sz="1600" baseline="30000" dirty="0"/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1600" dirty="0"/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l-GR" sz="1600" dirty="0"/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en-US" sz="1600" baseline="30000" dirty="0"/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1600" dirty="0"/>
                                <m:t>&lt;1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)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:(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600" dirty="0"/>
                                    <m:t>α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aseline="30000" dirty="0"/>
                                    <m:t>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600" dirty="0"/>
                                    <m:t>β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aseline="30000" dirty="0"/>
                                    <m:t>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&lt;1</m:t>
                                  </m:r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)</m:t>
                                  </m:r>
                                </m:sub>
                                <m:sup/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{</m:t>
                                  </m:r>
                                  <m:r>
                                    <a:rPr lang="en-US" sz="1600" i="1">
                                      <a:latin typeface="Cambria Math"/>
                                    </a:rPr>
                                    <m:t>𝑠𝑖𝑛𝑐</m:t>
                                  </m:r>
                                  <m:r>
                                    <a:rPr lang="en-US" sz="1600" i="1">
                                      <a:latin typeface="Cambria Math"/>
                                    </a:rPr>
                                    <m:t>[(</m:t>
                                  </m:r>
                                  <m:r>
                                    <a:rPr lang="en-US" sz="1600" i="1">
                                      <a:latin typeface="Cambria Math"/>
                                    </a:rPr>
                                    <m:t>𝑚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600" dirty="0"/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latin typeface="Cambria Math"/>
                                    </a:rPr>
                                    <m:t>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/</m:t>
                                  </m:r>
                                  <m:r>
                                    <a:rPr lang="en-US" sz="16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aseline="-25000">
                                      <a:latin typeface="Cambria Math"/>
                                    </a:rPr>
                                    <m:t>pitch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−2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="0" i="0" dirty="0" smtClean="0"/>
                                    <m:t>c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600" dirty="0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600" dirty="0"/>
                                    <m:t>α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aseline="-25000" dirty="0"/>
                                    <m:t>tilt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) </m:t>
                                  </m:r>
                                  <m:r>
                                    <a:rPr lang="en-US" sz="1600" i="1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1600" i="1" baseline="-25000">
                                      <a:latin typeface="Cambria Math"/>
                                    </a:rPr>
                                    <m:t>𝑤𝑖𝑑𝑡h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600" baseline="-25000" dirty="0"/>
                                    <m:t> </m:t>
                                  </m:r>
                                  <m:r>
                                    <a:rPr lang="en-US" sz="1600">
                                      <a:latin typeface="Cambria Math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latin typeface="Cambria Math"/>
                                    </a:rPr>
                                    <m:t>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] </m:t>
                                  </m:r>
                                  <m:r>
                                    <a:rPr lang="en-US" sz="1600" i="1">
                                      <a:latin typeface="Cambria Math"/>
                                    </a:rPr>
                                    <m:t>𝑠𝑖𝑛𝑐</m:t>
                                  </m:r>
                                  <m:r>
                                    <a:rPr lang="en-US" sz="1600" i="1">
                                      <a:latin typeface="Cambria Math"/>
                                    </a:rPr>
                                    <m:t>[(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="0" i="0" smtClean="0">
                                      <a:latin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latin typeface="Cambria Math"/>
                                    </a:rPr>
                                    <m:t>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/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y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aseline="-25000">
                                      <a:latin typeface="Cambria Math"/>
                                    </a:rPr>
                                    <m:t>pitch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−2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600" dirty="0"/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="0" i="0" dirty="0" smtClean="0"/>
                                    <m:t>c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600" dirty="0"/>
                                    <m:t>β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aseline="-25000" dirty="0"/>
                                    <m:t>tilt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)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y</m:t>
                                  </m:r>
                                  <m:r>
                                    <a:rPr lang="en-US" sz="1600" i="1" baseline="-25000">
                                      <a:latin typeface="Cambria Math"/>
                                    </a:rPr>
                                    <m:t>𝑤𝑖𝑑𝑡h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1600" baseline="-25000" dirty="0"/>
                                    <m:t> </m:t>
                                  </m:r>
                                  <m:r>
                                    <a:rPr lang="en-US" sz="1600">
                                      <a:latin typeface="Cambria Math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600" i="1">
                                      <a:latin typeface="Cambria Math"/>
                                    </a:rPr>
                                    <m:t>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dirty="0"/>
                                    <m:t>]}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aseline="30000" dirty="0"/>
                                    <m:t>2</m:t>
                                  </m:r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02" y="1580792"/>
                <a:ext cx="7485120" cy="941348"/>
              </a:xfrm>
              <a:prstGeom prst="rect">
                <a:avLst/>
              </a:prstGeom>
              <a:blipFill>
                <a:blip r:embed="rId15"/>
                <a:stretch>
                  <a:fillRect r="-13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79441" y="1028700"/>
                <a:ext cx="21766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/>
                        <m:t>α</m:t>
                      </m:r>
                      <m:r>
                        <m:rPr>
                          <m:nor/>
                        </m:rPr>
                        <a:rPr lang="en-US" b="0" i="0" baseline="-25000" dirty="0" smtClean="0"/>
                        <m:t>m</m:t>
                      </m:r>
                      <m:r>
                        <a:rPr lang="en-US" b="0" i="1" baseline="-25000" dirty="0" smtClean="0"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l-GR" dirty="0"/>
                        <m:t>α</m:t>
                      </m:r>
                      <m:r>
                        <m:rPr>
                          <m:nor/>
                        </m:rPr>
                        <a:rPr lang="en-US" baseline="-25000" dirty="0"/>
                        <m:t>i</m:t>
                      </m:r>
                      <m:r>
                        <m:rPr>
                          <m:nor/>
                        </m:rPr>
                        <a:rPr lang="en-US" b="0" i="0" dirty="0" smtClean="0"/>
                        <m:t>+</m:t>
                      </m:r>
                      <m:r>
                        <a:rPr lang="en-US" i="1">
                          <a:latin typeface="Cambria Math"/>
                        </a:rPr>
                        <m:t>𝑚</m:t>
                      </m:r>
                      <m:r>
                        <m:rPr>
                          <m:nor/>
                        </m:rPr>
                        <a:rPr lang="el-GR" dirty="0"/>
                        <m:t> 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/>
                        </a:rPr>
                        <m:t>λ</m:t>
                      </m:r>
                      <m:r>
                        <m:rPr>
                          <m:nor/>
                        </m:rPr>
                        <a:rPr lang="en-US" dirty="0"/>
                        <m:t>/</m:t>
                      </m:r>
                      <m:r>
                        <m:rPr>
                          <m:nor/>
                        </m:rPr>
                        <a:rPr lang="en-US" b="0" i="0" dirty="0" smtClean="0"/>
                        <m:t>x</m:t>
                      </m:r>
                      <m:r>
                        <m:rPr>
                          <m:nor/>
                        </m:rPr>
                        <a:rPr lang="en-US" baseline="-25000" dirty="0"/>
                        <m:t>pitch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441" y="1028700"/>
                <a:ext cx="2176675" cy="369332"/>
              </a:xfrm>
              <a:prstGeom prst="rect">
                <a:avLst/>
              </a:prstGeom>
              <a:blipFill rotWithShape="1"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552110" y="1081537"/>
                <a:ext cx="21858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/>
                        <m:t>β</m:t>
                      </m:r>
                      <m:r>
                        <a:rPr lang="en-US" b="0" i="1" dirty="0" smtClean="0">
                          <a:latin typeface="Cambria Math"/>
                        </a:rPr>
                        <m:t>𝑛</m:t>
                      </m:r>
                      <m:r>
                        <m:rPr>
                          <m:nor/>
                        </m:rPr>
                        <a:rPr lang="en-US" b="0" i="0" dirty="0" smtClean="0"/>
                        <m:t>=</m:t>
                      </m:r>
                      <m:r>
                        <m:rPr>
                          <m:nor/>
                        </m:rPr>
                        <a:rPr lang="el-GR" dirty="0"/>
                        <m:t>β</m:t>
                      </m:r>
                      <m:r>
                        <m:rPr>
                          <m:nor/>
                        </m:rPr>
                        <a:rPr lang="en-US" baseline="-25000" dirty="0"/>
                        <m:t>i</m:t>
                      </m:r>
                      <m:r>
                        <a:rPr lang="en-US" b="0" i="1" dirty="0" smtClean="0">
                          <a:latin typeface="Cambria Math"/>
                        </a:rPr>
                        <m:t>+</m:t>
                      </m:r>
                      <m:r>
                        <a:rPr lang="en-US" b="0" i="1" dirty="0" smtClean="0">
                          <a:latin typeface="Cambria Math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/>
                        </a:rPr>
                        <m:t>λ</m:t>
                      </m:r>
                      <m:r>
                        <m:rPr>
                          <m:nor/>
                        </m:rPr>
                        <a:rPr lang="en-US" dirty="0"/>
                        <m:t>/</m:t>
                      </m:r>
                      <m:r>
                        <m:rPr>
                          <m:nor/>
                        </m:rPr>
                        <a:rPr lang="en-US" b="0" i="0" dirty="0" smtClean="0"/>
                        <m:t>y</m:t>
                      </m:r>
                      <m:r>
                        <m:rPr>
                          <m:nor/>
                        </m:rPr>
                        <a:rPr lang="en-US" baseline="-25000" dirty="0"/>
                        <m:t>pitch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110" y="1081537"/>
                <a:ext cx="2185894" cy="369332"/>
              </a:xfrm>
              <a:prstGeom prst="rect">
                <a:avLst/>
              </a:prstGeom>
              <a:blipFill rotWithShape="1">
                <a:blip r:embed="rId1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5646497" y="108848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6301569" y="1096031"/>
                <a:ext cx="10823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α</m:t>
                    </m:r>
                    <m:r>
                      <m:rPr>
                        <m:nor/>
                      </m:rPr>
                      <a:rPr lang="en-US" b="0" i="0" baseline="30000" dirty="0" smtClean="0"/>
                      <m:t>2</m:t>
                    </m:r>
                    <m:r>
                      <m:rPr>
                        <m:nor/>
                      </m:rPr>
                      <a:rPr lang="en-US" b="0" i="0" dirty="0" smtClean="0"/>
                      <m:t>+</m:t>
                    </m:r>
                    <m:r>
                      <m:rPr>
                        <m:nor/>
                      </m:rPr>
                      <a:rPr lang="el-GR" dirty="0" smtClean="0"/>
                      <m:t>β</m:t>
                    </m:r>
                  </m:oMath>
                </a14:m>
                <a:r>
                  <a:rPr lang="en-US" baseline="30000" dirty="0"/>
                  <a:t>2</a:t>
                </a:r>
                <a:r>
                  <a:rPr lang="en-US" dirty="0"/>
                  <a:t>&lt;1:</a:t>
                </a: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569" y="1096031"/>
                <a:ext cx="1082348" cy="369332"/>
              </a:xfrm>
              <a:prstGeom prst="rect">
                <a:avLst/>
              </a:prstGeom>
              <a:blipFill rotWithShape="1">
                <a:blip r:embed="rId18"/>
                <a:stretch>
                  <a:fillRect t="-8333" r="-452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499126" y="2648237"/>
                <a:ext cx="13393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dirty="0">
                          <a:latin typeface="Cambria Math"/>
                        </a:rPr>
                        <m:t>P</m:t>
                      </m:r>
                      <m:r>
                        <m:rPr>
                          <m:nor/>
                        </m:rPr>
                        <a:rPr lang="pt-BR" dirty="0"/>
                        <m:t>(</m:t>
                      </m:r>
                      <m:r>
                        <m:rPr>
                          <m:nor/>
                        </m:rPr>
                        <a:rPr lang="el-GR" dirty="0"/>
                        <m:t>α</m:t>
                      </m:r>
                      <m:r>
                        <m:rPr>
                          <m:nor/>
                        </m:rPr>
                        <a:rPr lang="en-US" baseline="-25000" dirty="0"/>
                        <m:t>m</m:t>
                      </m:r>
                      <m:r>
                        <m:rPr>
                          <m:nor/>
                        </m:rPr>
                        <a:rPr lang="en-US" baseline="-25000" dirty="0"/>
                        <m:t>,</m:t>
                      </m:r>
                      <m:r>
                        <m:rPr>
                          <m:nor/>
                        </m:rPr>
                        <a:rPr lang="el-GR" dirty="0"/>
                        <m:t>β</m:t>
                      </m:r>
                      <m:r>
                        <m:rPr>
                          <m:nor/>
                        </m:rPr>
                        <a:rPr lang="en-US" baseline="-25000" dirty="0"/>
                        <m:t>n</m:t>
                      </m:r>
                      <m:r>
                        <m:rPr>
                          <m:nor/>
                        </m:rPr>
                        <a:rPr lang="en-US" b="0" i="0" baseline="-25000" dirty="0" smtClean="0"/>
                        <m:t>,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𝜆</m:t>
                      </m:r>
                      <m:r>
                        <m:rPr>
                          <m:nor/>
                        </m:rPr>
                        <a:rPr lang="pt-BR" dirty="0"/>
                        <m:t>)</m:t>
                      </m:r>
                      <m:r>
                        <a:rPr lang="pt-BR" i="1" dirty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dirty="0" smtClean="0"/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126" y="2648237"/>
                <a:ext cx="1339325" cy="369332"/>
              </a:xfrm>
              <a:prstGeom prst="rect">
                <a:avLst/>
              </a:prstGeom>
              <a:blipFill rotWithShape="1">
                <a:blip r:embed="rId19"/>
                <a:stretch>
                  <a:fillRect r="-8636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759064" y="266819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Else: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1996435" y="3384978"/>
                <a:ext cx="21193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 smtClean="0"/>
                      <m:t>α</m:t>
                    </m:r>
                    <m:r>
                      <m:rPr>
                        <m:nor/>
                      </m:rPr>
                      <a:rPr lang="en-US" b="0" i="0" baseline="-25000" dirty="0" smtClean="0"/>
                      <m:t>m</m:t>
                    </m:r>
                    <m:r>
                      <a:rPr lang="en-US" b="0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l-GR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="0" i="0" baseline="-25000" dirty="0" smtClean="0"/>
                      <m:t>n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</m:oMath>
                </a14:m>
                <a:r>
                  <a:rPr lang="en-US" dirty="0"/>
                  <a:t>are output ray dir. cosines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435" y="3384978"/>
                <a:ext cx="2119362" cy="646331"/>
              </a:xfrm>
              <a:prstGeom prst="rect">
                <a:avLst/>
              </a:prstGeom>
              <a:blipFill>
                <a:blip r:embed="rId20"/>
                <a:stretch>
                  <a:fillRect l="-2299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6717057" y="2612354"/>
                <a:ext cx="2050241" cy="6199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𝑠𝑖𝑛</m:t>
                      </m:r>
                      <m:r>
                        <a:rPr lang="en-US" b="0" i="1" smtClean="0">
                          <a:latin typeface="Cambria Math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sin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7057" y="2612354"/>
                <a:ext cx="2050241" cy="61991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150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Diffraction Efficiency Obtained by Summing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5442" y="1466492"/>
                <a:ext cx="7485120" cy="834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𝐷𝑖𝑓𝑓𝑟𝑎𝑐𝑡𝑖𝑜𝑛</m:t>
                      </m:r>
                      <m:r>
                        <a:rPr lang="en-US" sz="1600" b="0" i="1" smtClean="0">
                          <a:latin typeface="Cambria Math"/>
                        </a:rPr>
                        <m:t> </m:t>
                      </m:r>
                      <m:r>
                        <a:rPr lang="en-US" sz="1600" b="0" i="1" smtClean="0">
                          <a:latin typeface="Cambria Math"/>
                        </a:rPr>
                        <m:t>𝐸𝑓𝑓𝑖𝑐𝑖𝑒𝑛𝑐𝑦</m:t>
                      </m:r>
                      <m:r>
                        <a:rPr lang="en-US" sz="1600" b="0" i="1" smtClean="0">
                          <a:latin typeface="Cambria Math"/>
                        </a:rPr>
                        <m:t>(</m:t>
                      </m:r>
                      <m:r>
                        <a:rPr lang="en-US" sz="1600" b="0" i="1" smtClean="0">
                          <a:latin typeface="Cambria Math"/>
                          <a:ea typeface="Cambria Math"/>
                        </a:rPr>
                        <m:t>𝜆</m:t>
                      </m:r>
                      <m:r>
                        <a:rPr lang="en-US" sz="1600" b="0" i="1" baseline="-25000" smtClean="0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en-US" sz="1600" b="0" i="1" smtClean="0">
                          <a:latin typeface="Cambria Math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/>
                            </a:rPr>
                            <m:t>𝑚</m:t>
                          </m:r>
                          <m:r>
                            <a:rPr lang="en-US" sz="1600" i="1">
                              <a:latin typeface="Cambria Math"/>
                            </a:rPr>
                            <m:t>:(</m:t>
                          </m:r>
                          <m:r>
                            <m:rPr>
                              <m:nor/>
                            </m:rPr>
                            <a:rPr lang="el-GR" sz="1600" dirty="0"/>
                            <m:t>α</m:t>
                          </m:r>
                          <m:r>
                            <m:rPr>
                              <m:nor/>
                            </m:rPr>
                            <a:rPr lang="en-US" sz="1600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+</m:t>
                          </m:r>
                          <m:r>
                            <m:rPr>
                              <m:nor/>
                            </m:rPr>
                            <a:rPr lang="el-GR" sz="1600" dirty="0"/>
                            <m:t>β</m:t>
                          </m:r>
                          <m:r>
                            <m:rPr>
                              <m:nor/>
                            </m:rPr>
                            <a:rPr lang="en-US" sz="1600" baseline="30000" dirty="0"/>
                            <m:t>2</m:t>
                          </m:r>
                          <m:r>
                            <m:rPr>
                              <m:nor/>
                            </m:rPr>
                            <a:rPr lang="en-US" sz="1600" dirty="0"/>
                            <m:t>&lt;</m:t>
                          </m:r>
                          <m:r>
                            <a:rPr lang="en-US" sz="1600" b="0" i="0" dirty="0" smtClean="0">
                              <a:latin typeface="Cambria Math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0" dirty="0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0" dirty="0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1600" b="0" i="1" dirty="0" smtClean="0">
                                  <a:latin typeface="Cambria Math"/>
                                </a:rPr>
                                <m:t>𝐹</m:t>
                              </m:r>
                              <m:r>
                                <a:rPr lang="en-US" sz="1600" b="0" i="1" dirty="0" smtClean="0">
                                  <a:latin typeface="Cambria Math"/>
                                </a:rPr>
                                <m:t>#</m:t>
                              </m:r>
                            </m:den>
                          </m:f>
                          <m:r>
                            <a:rPr lang="en-US" sz="1600" b="0" i="1" dirty="0" smtClean="0">
                              <a:latin typeface="Cambria Math"/>
                            </a:rPr>
                            <m:t>))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:</m:t>
                              </m:r>
                              <m:r>
                                <m:rPr>
                                  <m:nor/>
                                </m:rPr>
                                <a:rPr lang="en-US" sz="1600" b="0" i="0" smtClean="0">
                                  <a:latin typeface="Cambria Math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l-GR" sz="1600" dirty="0"/>
                                <m:t>α</m:t>
                              </m:r>
                              <m:r>
                                <m:rPr>
                                  <m:nor/>
                                </m:rPr>
                                <a:rPr lang="en-US" sz="1600" baseline="30000" dirty="0"/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1600" dirty="0"/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l-GR" sz="1600" dirty="0"/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en-US" sz="1600" baseline="30000" dirty="0"/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1600" dirty="0"/>
                                <m:t>&lt;</m:t>
                              </m:r>
                              <m:r>
                                <a:rPr lang="en-US" sz="1600" b="0" i="1" dirty="0" smtClean="0">
                                  <a:latin typeface="Cambria Math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dirty="0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dirty="0" smtClean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1600" b="0" i="1" dirty="0" smtClean="0">
                                      <a:latin typeface="Cambria Math"/>
                                    </a:rPr>
                                    <m:t>𝐹</m:t>
                                  </m:r>
                                  <m:r>
                                    <a:rPr lang="en-US" sz="1600" b="0" i="1" dirty="0" smtClean="0">
                                      <a:latin typeface="Cambria Math"/>
                                    </a:rPr>
                                    <m:t>#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latin typeface="Cambria Math"/>
                                </a:rPr>
                                <m:t>))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US" sz="1600" b="0" i="0" smtClean="0">
                                  <a:latin typeface="Cambria Math"/>
                                </a:rPr>
                                <m:t>P</m:t>
                              </m:r>
                              <m:r>
                                <m:rPr>
                                  <m:nor/>
                                </m:rPr>
                                <a:rPr lang="pt-BR" sz="1600" dirty="0"/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l-GR" sz="1600" dirty="0"/>
                                <m:t>α</m:t>
                              </m:r>
                              <m:r>
                                <m:rPr>
                                  <m:nor/>
                                </m:rPr>
                                <a:rPr lang="en-US" sz="1600" baseline="-25000" dirty="0"/>
                                <m:t>m</m:t>
                              </m:r>
                              <m:r>
                                <m:rPr>
                                  <m:nor/>
                                </m:rPr>
                                <a:rPr lang="en-US" sz="1600" baseline="-25000" dirty="0"/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l-GR" sz="1600" dirty="0"/>
                                <m:t>β</m:t>
                              </m:r>
                              <m:r>
                                <m:rPr>
                                  <m:nor/>
                                </m:rPr>
                                <a:rPr lang="en-US" sz="1600" baseline="-25000" dirty="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1600" b="0" i="0" baseline="-25000" dirty="0" smtClean="0"/>
                                <m:t>,</m:t>
                              </m:r>
                              <m:r>
                                <a:rPr lang="en-US" sz="1600" i="1">
                                  <a:latin typeface="Cambria Math"/>
                                  <a:ea typeface="Cambria Math"/>
                                </a:rPr>
                                <m:t>𝜆</m:t>
                              </m:r>
                              <m:r>
                                <m:rPr>
                                  <m:nor/>
                                </m:rPr>
                                <a:rPr lang="en-US" sz="1600" b="0" i="0" baseline="-25000" smtClean="0">
                                  <a:latin typeface="Cambria Math"/>
                                  <a:ea typeface="Cambria Math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pt-BR" sz="1600" dirty="0"/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42" y="1466492"/>
                <a:ext cx="7485120" cy="83445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587486" y="3778597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486" y="5038129"/>
                <a:ext cx="300082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267836" y="820161"/>
            <a:ext cx="8165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each wavelength the diffraction efficiency within the F/number is given by: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08123" y="2892622"/>
                <a:ext cx="6911729" cy="637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i="1" smtClean="0">
                          <a:latin typeface="Cambria Math"/>
                        </a:rPr>
                        <m:t>P</m:t>
                      </m:r>
                      <m:r>
                        <a:rPr lang="en-US" sz="1600" b="0" i="1" smtClean="0">
                          <a:latin typeface="Cambria Math"/>
                        </a:rPr>
                        <m:t>h𝑜𝑡𝑜𝑝𝑖𝑐</m:t>
                      </m:r>
                      <m:r>
                        <a:rPr lang="en-US" sz="1600" b="0" i="1" smtClean="0">
                          <a:latin typeface="Cambria Math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600" b="0" i="1" smtClean="0">
                          <a:latin typeface="Cambria Math"/>
                        </a:rPr>
                        <m:t>𝑓𝑓𝑖𝑐𝑖𝑒𝑛𝑐𝑦</m:t>
                      </m:r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latin typeface="Cambria Math"/>
                                  <a:ea typeface="Cambria Math"/>
                                </a:rPr>
                                <m:t>𝜆</m:t>
                              </m:r>
                              <m:r>
                                <a:rPr lang="en-US" sz="1600" i="1" baseline="-2500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/>
                                      <a:ea typeface="Cambria Math"/>
                                    </a:rPr>
                                    <m:t>𝜆</m:t>
                                  </m:r>
                                  <m:r>
                                    <a:rPr lang="en-US" sz="1600" i="1" baseline="-2500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  <m:r>
                                    <a:rPr lang="en-US" sz="1600" b="0" i="1" baseline="-25000" smtClean="0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sz="1600" b="0" i="1" baseline="-2500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  <m:t>𝑃h𝑜𝑡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/>
                                      <a:ea typeface="Cambria Math"/>
                                    </a:rPr>
                                    <m:t>𝜆</m:t>
                                  </m:r>
                                  <m:r>
                                    <a:rPr lang="en-US" sz="1600" i="1" baseline="-2500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  <m:t>𝐷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  <m:t>𝑖𝑓𝑓𝑟𝑎𝑐𝑡𝑖𝑜𝑛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  <m:t>𝐸𝑓𝑓𝑖𝑐𝑖𝑒𝑛𝑐𝑦</m:t>
                              </m:r>
                              <m: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/>
                                  <a:ea typeface="Cambria Math"/>
                                </a:rPr>
                                <m:t>𝜆</m:t>
                              </m:r>
                              <m:r>
                                <a:rPr lang="en-US" sz="1600" i="1" baseline="-2500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latin typeface="Cambria Math"/>
                                  <a:ea typeface="Cambria Math"/>
                                </a:rPr>
                                <m:t>𝜆</m:t>
                              </m:r>
                              <m:r>
                                <a:rPr lang="en-US" sz="1600" i="1" baseline="-2500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/>
                                      <a:ea typeface="Cambria Math"/>
                                    </a:rPr>
                                    <m:t>𝜆</m:t>
                                  </m:r>
                                  <m:r>
                                    <a:rPr lang="en-US" sz="1600" i="1" baseline="-2500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  <m:r>
                                    <a:rPr lang="en-US" sz="1600" i="1" baseline="-25000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sz="1600" b="0" i="1" baseline="-2500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1600" i="1">
                                  <a:latin typeface="Cambria Math"/>
                                  <a:ea typeface="Cambria Math"/>
                                </a:rPr>
                                <m:t>𝑃</m:t>
                              </m:r>
                              <m: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  <m:t>h𝑜𝑡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600" i="1">
                                  <a:latin typeface="Cambria Math"/>
                                  <a:ea typeface="Cambria Math"/>
                                </a:rPr>
                                <m:t>𝜆</m:t>
                              </m:r>
                              <m:r>
                                <a:rPr lang="en-US" sz="1600" i="1" baseline="-2500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23" y="2892622"/>
                <a:ext cx="6911729" cy="63773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312642" y="3963263"/>
                <a:ext cx="31498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</a:rPr>
                        <m:t>𝑆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𝜆</m:t>
                          </m:r>
                          <m:r>
                            <a:rPr lang="en-US" sz="1600" i="1" baseline="-2500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sz="1600" i="1" baseline="-25000">
                              <a:latin typeface="Cambria Math"/>
                              <a:ea typeface="Cambria Math"/>
                            </a:rPr>
                            <m:t> </m:t>
                          </m:r>
                        </m:e>
                      </m:d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r>
                        <a:rPr lang="en-US" sz="1600" b="0" i="1" smtClean="0">
                          <a:latin typeface="Cambria Math"/>
                        </a:rPr>
                        <m:t>𝑠𝑜𝑢𝑟𝑐𝑒</m:t>
                      </m:r>
                      <m:r>
                        <a:rPr lang="en-US" sz="1600" b="0" i="1" smtClean="0">
                          <a:latin typeface="Cambria Math"/>
                        </a:rPr>
                        <m:t> </m:t>
                      </m:r>
                      <m:r>
                        <a:rPr lang="en-US" sz="1600" b="0" i="1" smtClean="0">
                          <a:latin typeface="Cambria Math"/>
                        </a:rPr>
                        <m:t>𝑠𝑝𝑒𝑐𝑡𝑟𝑢𝑚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642" y="3963263"/>
                <a:ext cx="3149851" cy="338554"/>
              </a:xfrm>
              <a:prstGeom prst="rect">
                <a:avLst/>
              </a:prstGeom>
              <a:blipFill rotWithShape="1">
                <a:blip r:embed="rId14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370002" y="4301817"/>
                <a:ext cx="31498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/>
                          <a:ea typeface="Cambria Math"/>
                        </a:rPr>
                        <m:t>𝑃h𝑜𝑡</m:t>
                      </m:r>
                      <m:r>
                        <a:rPr lang="en-US" sz="1600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𝜆</m:t>
                          </m:r>
                          <m:r>
                            <a:rPr lang="en-US" sz="1600" i="1" baseline="-2500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sz="1600" i="1" baseline="-25000">
                              <a:latin typeface="Cambria Math"/>
                              <a:ea typeface="Cambria Math"/>
                            </a:rPr>
                            <m:t> </m:t>
                          </m:r>
                        </m:e>
                      </m:d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r>
                        <a:rPr lang="en-US" sz="1600" b="0" i="1" smtClean="0">
                          <a:latin typeface="Cambria Math"/>
                        </a:rPr>
                        <m:t>𝑝h𝑜𝑡𝑜𝑝𝑖𝑐</m:t>
                      </m:r>
                      <m:r>
                        <a:rPr lang="en-US" sz="1600" b="0" i="1" smtClean="0">
                          <a:latin typeface="Cambria Math"/>
                        </a:rPr>
                        <m:t> </m:t>
                      </m:r>
                      <m:r>
                        <a:rPr lang="en-US" sz="1600" b="0" i="1" smtClean="0">
                          <a:latin typeface="Cambria Math"/>
                        </a:rPr>
                        <m:t>𝑐𝑢𝑟𝑣𝑒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002" y="4301817"/>
                <a:ext cx="3149851" cy="338554"/>
              </a:xfrm>
              <a:prstGeom prst="rect">
                <a:avLst/>
              </a:prstGeom>
              <a:blipFill rotWithShape="1">
                <a:blip r:embed="rId15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690008" y="4030885"/>
            <a:ext cx="846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Where:</a:t>
            </a:r>
          </a:p>
        </p:txBody>
      </p:sp>
    </p:spTree>
    <p:extLst>
      <p:ext uri="{BB962C8B-B14F-4D97-AF65-F5344CB8AC3E}">
        <p14:creationId xmlns:p14="http://schemas.microsoft.com/office/powerpoint/2010/main" val="1398609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TRP or non-TRP?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Content Placeholder 22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90043849"/>
                  </p:ext>
                </p:extLst>
              </p:nvPr>
            </p:nvGraphicFramePr>
            <p:xfrm>
              <a:off x="3625617" y="2795310"/>
              <a:ext cx="2698400" cy="11125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605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8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890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Non-TRP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i="1" dirty="0" smtClean="0"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  <m:r>
                                  <a:rPr lang="el-GR" i="1" dirty="0" smtClean="0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  <m:r>
                                  <a:rPr lang="en-US" i="1" baseline="-25000" dirty="0">
                                    <a:latin typeface="Cambria Math"/>
                                    <a:ea typeface="Cambria Math"/>
                                  </a:rPr>
                                  <m:t>𝑡𝑖𝑙𝑡</m:t>
                                </m:r>
                                <m:r>
                                  <a:rPr lang="en-US" i="1" baseline="-25000" dirty="0">
                                    <a:latin typeface="Cambria Math"/>
                                    <a:ea typeface="Cambria Math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i="1" dirty="0" smtClean="0">
                                    <a:latin typeface="Cambria Math"/>
                                    <a:ea typeface="Cambria Math"/>
                                  </a:rPr>
                                  <m:t>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Content Placeholder 22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90043849"/>
                  </p:ext>
                </p:extLst>
              </p:nvPr>
            </p:nvGraphicFramePr>
            <p:xfrm>
              <a:off x="3625617" y="2795310"/>
              <a:ext cx="2698400" cy="111252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60504"/>
                    <a:gridCol w="748994"/>
                    <a:gridCol w="1088902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TRP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Non-TRP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09" t="-105000" r="-214184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12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709" t="-201639" r="-214184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45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3874" y="3028668"/>
                <a:ext cx="18153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 smtClean="0"/>
                      <m:t>α</m:t>
                    </m:r>
                    <m:r>
                      <m:rPr>
                        <m:nor/>
                      </m:rPr>
                      <a:rPr lang="en-US" b="0" i="0" baseline="-25000" dirty="0" smtClean="0"/>
                      <m:t>tilt</m:t>
                    </m:r>
                    <m:r>
                      <a:rPr lang="en-US" b="0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l-GR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="0" i="0" baseline="-25000" dirty="0" smtClean="0"/>
                      <m:t>tilt</m:t>
                    </m:r>
                  </m:oMath>
                </a14:m>
                <a:r>
                  <a:rPr lang="en-US" dirty="0"/>
                  <a:t> are mirror normal dir. cosines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74" y="3028668"/>
                <a:ext cx="1815354" cy="923330"/>
              </a:xfrm>
              <a:prstGeom prst="rect">
                <a:avLst/>
              </a:prstGeom>
              <a:blipFill>
                <a:blip r:embed="rId3"/>
                <a:stretch>
                  <a:fillRect l="-3030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431489" y="818682"/>
            <a:ext cx="2460123" cy="1769464"/>
            <a:chOff x="472671" y="719910"/>
            <a:chExt cx="2460123" cy="1769464"/>
          </a:xfrm>
        </p:grpSpPr>
        <p:grpSp>
          <p:nvGrpSpPr>
            <p:cNvPr id="7" name="Group 6"/>
            <p:cNvGrpSpPr/>
            <p:nvPr/>
          </p:nvGrpSpPr>
          <p:grpSpPr>
            <a:xfrm>
              <a:off x="846819" y="719910"/>
              <a:ext cx="2085975" cy="1769464"/>
              <a:chOff x="304800" y="1714424"/>
              <a:chExt cx="2940240" cy="3698081"/>
            </a:xfrm>
          </p:grpSpPr>
          <p:pic>
            <p:nvPicPr>
              <p:cNvPr id="13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1950" y="3390823"/>
                <a:ext cx="2171700" cy="17240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4" name="Straight Arrow Connector 13"/>
              <p:cNvCxnSpPr/>
              <p:nvPr/>
            </p:nvCxnSpPr>
            <p:spPr>
              <a:xfrm flipV="1">
                <a:off x="1504950" y="1714424"/>
                <a:ext cx="0" cy="25384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 flipV="1">
                <a:off x="304800" y="3314623"/>
                <a:ext cx="2940240" cy="158563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596900" y="3390823"/>
                <a:ext cx="2127250" cy="20216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V="1">
                <a:off x="1504950" y="2983630"/>
                <a:ext cx="438150" cy="1269206"/>
              </a:xfrm>
              <a:prstGeom prst="straightConnector1">
                <a:avLst/>
              </a:prstGeom>
              <a:ln>
                <a:solidFill>
                  <a:srgbClr val="00B0F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Isosceles Triangle 7"/>
            <p:cNvSpPr/>
            <p:nvPr/>
          </p:nvSpPr>
          <p:spPr>
            <a:xfrm rot="15330055">
              <a:off x="1525574" y="1737830"/>
              <a:ext cx="628998" cy="309647"/>
            </a:xfrm>
            <a:prstGeom prst="triangle">
              <a:avLst/>
            </a:prstGeom>
            <a:solidFill>
              <a:srgbClr val="41CFE7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/>
            <p:cNvSpPr/>
            <p:nvPr/>
          </p:nvSpPr>
          <p:spPr>
            <a:xfrm rot="13658395">
              <a:off x="1697489" y="1571760"/>
              <a:ext cx="358193" cy="425688"/>
            </a:xfrm>
            <a:prstGeom prst="triangle">
              <a:avLst/>
            </a:prstGeom>
            <a:solidFill>
              <a:srgbClr val="41CFE7">
                <a:alpha val="3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1682025" y="1754829"/>
                  <a:ext cx="397866" cy="2616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l-GR" sz="1100" dirty="0"/>
                          <m:t>α</m:t>
                        </m:r>
                        <m:r>
                          <m:rPr>
                            <m:nor/>
                          </m:rPr>
                          <a:rPr lang="en-US" sz="1100" baseline="-25000" dirty="0"/>
                          <m:t>tilt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2025" y="1754829"/>
                  <a:ext cx="397866" cy="26161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1928939" y="1481531"/>
                  <a:ext cx="380232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l-GR" sz="1000" dirty="0"/>
                          <m:t>β</m:t>
                        </m:r>
                        <m:r>
                          <m:rPr>
                            <m:nor/>
                          </m:rPr>
                          <a:rPr lang="en-US" sz="1000" baseline="-25000" dirty="0"/>
                          <m:t>tilt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8939" y="1481531"/>
                  <a:ext cx="380232" cy="246221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/>
            <p:cNvSpPr txBox="1"/>
            <p:nvPr/>
          </p:nvSpPr>
          <p:spPr>
            <a:xfrm>
              <a:off x="472671" y="990908"/>
              <a:ext cx="109837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Mirror normal</a:t>
              </a:r>
            </a:p>
            <a:p>
              <a:r>
                <a:rPr lang="en-US" sz="1100" b="1" dirty="0"/>
                <a:t>direction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494440" y="1005014"/>
                <a:ext cx="2144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 smtClean="0"/>
                      <m:t>α</m:t>
                    </m:r>
                    <m:r>
                      <m:rPr>
                        <m:nor/>
                      </m:rPr>
                      <a:rPr lang="en-US" baseline="-25000" dirty="0" smtClean="0"/>
                      <m:t>tilt</m:t>
                    </m:r>
                  </m:oMath>
                </a14:m>
                <a:r>
                  <a:rPr lang="en-US" dirty="0"/>
                  <a:t>=sin(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/>
                        <a:ea typeface="Cambria Math"/>
                      </a:rPr>
                      <m:t>𝜃</m:t>
                    </m:r>
                    <m:r>
                      <a:rPr lang="el-GR" i="1" dirty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 baseline="-25000" dirty="0">
                        <a:latin typeface="Cambria Math"/>
                        <a:ea typeface="Cambria Math"/>
                      </a:rPr>
                      <m:t>𝑡𝑖𝑙𝑡</m:t>
                    </m:r>
                  </m:oMath>
                </a14:m>
                <a:r>
                  <a:rPr lang="en-US" dirty="0"/>
                  <a:t>)cos(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/>
                        <a:ea typeface="Cambria Math"/>
                      </a:rPr>
                      <m:t>φ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440" y="1005014"/>
                <a:ext cx="2144690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333" r="-255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494440" y="1580303"/>
                <a:ext cx="21142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dirty="0"/>
                      <m:t>β</m:t>
                    </m:r>
                    <m:r>
                      <m:rPr>
                        <m:nor/>
                      </m:rPr>
                      <a:rPr lang="en-US" baseline="-25000" dirty="0"/>
                      <m:t>tilt</m:t>
                    </m:r>
                  </m:oMath>
                </a14:m>
                <a:r>
                  <a:rPr lang="en-US" dirty="0"/>
                  <a:t>=sin(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/>
                        <a:ea typeface="Cambria Math"/>
                      </a:rPr>
                      <m:t>𝜃</m:t>
                    </m:r>
                    <m:r>
                      <a:rPr lang="el-GR" i="1" dirty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i="1" baseline="-25000" dirty="0">
                        <a:latin typeface="Cambria Math"/>
                        <a:ea typeface="Cambria Math"/>
                      </a:rPr>
                      <m:t>𝑡𝑖𝑙𝑡</m:t>
                    </m:r>
                    <m:r>
                      <a:rPr lang="en-US" i="1" baseline="-25000" dirty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)sin(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dirty="0">
                        <a:latin typeface="Cambria Math"/>
                        <a:ea typeface="Cambria Math"/>
                      </a:rPr>
                      <m:t>φ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440" y="1580303"/>
                <a:ext cx="2114233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576" t="-8197" r="-259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04647"/>
      </p:ext>
    </p:extLst>
  </p:cSld>
  <p:clrMapOvr>
    <a:masterClrMapping/>
  </p:clrMapOvr>
</p:sld>
</file>

<file path=ppt/theme/theme1.xml><?xml version="1.0" encoding="utf-8"?>
<a:theme xmlns:a="http://schemas.openxmlformats.org/drawingml/2006/main" name="1_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610FAE740D6648B2E3031AD9F019C1" ma:contentTypeVersion="0" ma:contentTypeDescription="Create a new document." ma:contentTypeScope="" ma:versionID="b3b9f588fe28e0f5dd59e63e199ef88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B3101C-07F3-4FBA-8BFA-EDA36AB870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218FDE-970E-4E5D-9B27-9DF58E1EFC26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A1C4E87-DED7-4226-B461-AFCBEC2DDD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17932</TotalTime>
  <Words>1195</Words>
  <Application>Microsoft Office PowerPoint</Application>
  <PresentationFormat>On-screen Show (16:9)</PresentationFormat>
  <Paragraphs>255</Paragraphs>
  <Slides>16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MS PGothic</vt:lpstr>
      <vt:lpstr>Arial</vt:lpstr>
      <vt:lpstr>Cambria Math</vt:lpstr>
      <vt:lpstr>1_FinalPowerpoint</vt:lpstr>
      <vt:lpstr>Equation</vt:lpstr>
      <vt:lpstr>Closed-Form Diffraction Modeling</vt:lpstr>
      <vt:lpstr>Optical Modeling of DMD Diffraction</vt:lpstr>
      <vt:lpstr>DMD Behaves Similar to  a Blazed Diffraction Grating</vt:lpstr>
      <vt:lpstr>Blaze Condition </vt:lpstr>
      <vt:lpstr>PowerPoint Presentation</vt:lpstr>
      <vt:lpstr>DMD diffraction can be treated as a surface scatterer with Bidirectional Scatter Distribution Function (BSDF)</vt:lpstr>
      <vt:lpstr>Geometry</vt:lpstr>
      <vt:lpstr>Coordinate System</vt:lpstr>
      <vt:lpstr>Coordinate System-Torsional</vt:lpstr>
      <vt:lpstr>Coordinate System – Cantilever Design - TRP </vt:lpstr>
      <vt:lpstr>Start with Non-Paraxial Scalar Diffraction Theory </vt:lpstr>
      <vt:lpstr>Closed-Form Diffraction Equations (on state)</vt:lpstr>
      <vt:lpstr>Closed-Form Diffraction Equations (on state): Reflected ray direction</vt:lpstr>
      <vt:lpstr>Closed-Form Diffraction Equations (on state): Large Tilt Angle Correction Term</vt:lpstr>
      <vt:lpstr>Diffraction Efficiency Obtained by Summing</vt:lpstr>
      <vt:lpstr>TRP or non-TRP?</vt:lpstr>
    </vt:vector>
  </TitlesOfParts>
  <Company>Texas Instruments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</dc:title>
  <dc:creator>Brollo, Clementina</dc:creator>
  <cp:lastModifiedBy>Walker, Zachary</cp:lastModifiedBy>
  <cp:revision>417</cp:revision>
  <dcterms:created xsi:type="dcterms:W3CDTF">2007-12-19T20:51:45Z</dcterms:created>
  <dcterms:modified xsi:type="dcterms:W3CDTF">2022-10-14T20:00:02Z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0x010100D4610FAE740D6648B2E3031AD9F019C1</vt:lpwstr>
  </property>
</Properties>
</file>